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77639"/>
            <a:ext cx="12192000" cy="9144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2200" b="0" i="0">
                <a:solidFill>
                  <a:srgbClr val="C9D9EC"/>
                </a:solidFill>
                <a:latin typeface="Calibri"/>
              </a:rPr>
              <a:t>Architecture &amp; Design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976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 pure-Python, HTTP-only service that deploys and evaluates agent benchmarks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D8E3F0"/>
                </a:solidFill>
                <a:latin typeface="Calibri"/>
              </a:rPr>
              <a:t>across multiple cluster-specific Rossoctl instances.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What this deck covers, in order</a:t>
            </a:r>
          </a:p>
        </p:txBody>
      </p:sp>
      <p:sp>
        <p:nvSpPr>
          <p:cNvPr id="3" name="Oval 2"/>
          <p:cNvSpPr/>
          <p:nvPr/>
        </p:nvSpPr>
        <p:spPr>
          <a:xfrm>
            <a:off x="68580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298448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Overview &amp; key design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600200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what the Service is, and the seven choices that shape it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49424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Auto-benchmarking design motif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51176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shape of the system, before the wiring detail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200400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502152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client, Service, and the per-cluster instance selected by JWT iss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151376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Architecture with workload specific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53128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inside the workload: sidecar, user simulator, IBAC judge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02352"/>
            <a:ext cx="4526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two-token auth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404104"/>
            <a:ext cx="45262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1353312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1298448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Benchmark catalog &amp; run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1600200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three benchmarks and the REST flow that drives them</a:t>
            </a:r>
          </a:p>
        </p:txBody>
      </p:sp>
      <p:sp>
        <p:nvSpPr>
          <p:cNvPr id="21" name="Oval 20"/>
          <p:cNvSpPr/>
          <p:nvPr/>
        </p:nvSpPr>
        <p:spPr>
          <a:xfrm>
            <a:off x="6492240" y="2304288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249424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three benchmarks — what they measure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551176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7.1 the difficulty ladder · 7.2 what each stresses · 7.3 the traps</a:t>
            </a:r>
          </a:p>
        </p:txBody>
      </p:sp>
      <p:sp>
        <p:nvSpPr>
          <p:cNvPr id="24" name="Oval 23"/>
          <p:cNvSpPr/>
          <p:nvPr/>
        </p:nvSpPr>
        <p:spPr>
          <a:xfrm>
            <a:off x="6492240" y="3255264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200400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The canonical 12-run matrix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02152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8.1 what the 12 runs parameterize · 8.2 what they measured</a:t>
            </a:r>
          </a:p>
        </p:txBody>
      </p:sp>
      <p:sp>
        <p:nvSpPr>
          <p:cNvPr id="27" name="Oval 26"/>
          <p:cNvSpPr/>
          <p:nvPr/>
        </p:nvSpPr>
        <p:spPr>
          <a:xfrm>
            <a:off x="6492240" y="4206240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151376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Cross-platform &amp; plugin overhead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453128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9.1 OpenShift vs KinD, like-for-like · 9.2 what AuthBridge costs</a:t>
            </a:r>
          </a:p>
        </p:txBody>
      </p:sp>
      <p:sp>
        <p:nvSpPr>
          <p:cNvPr id="30" name="Oval 29"/>
          <p:cNvSpPr/>
          <p:nvPr/>
        </p:nvSpPr>
        <p:spPr>
          <a:xfrm>
            <a:off x="6492240" y="5157216"/>
            <a:ext cx="420624" cy="420624"/>
          </a:xfrm>
          <a:prstGeom prst="ellipse">
            <a:avLst/>
          </a:prstGeom>
          <a:solidFill>
            <a:srgbClr val="E87A1E"/>
          </a:solidFill>
          <a:ln w="158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5102352"/>
            <a:ext cx="4663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 i="0">
                <a:solidFill>
                  <a:srgbClr val="1B3A5C"/>
                </a:solidFill>
                <a:latin typeface="Calibri"/>
              </a:rPr>
              <a:t>What the Service can &amp; cannot enact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5404104"/>
            <a:ext cx="4663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3A4654"/>
                </a:solidFill>
                <a:latin typeface="Calibri"/>
              </a:rPr>
              <a:t>the HTTP-only boundary, made explicit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80760" y="1280160"/>
            <a:ext cx="0" cy="425196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1.  Overview &amp; Key Design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39496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53492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Deploys a benchmark's MCP tool + A2A agent, runs the evaluation, reads results, and exports them — all over HTTP.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Objectives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Automate benchmarking lifecycle operations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Cross-user/cluster sharing of benchmark run results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Easy to configure in-cluster &amp; cross-cluster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Asynchronous parallel benchmark runs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Secure, scalable, auditable &amp; resilient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3 benchmarks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gsm8k — single-turn: one prompt in, one answer out, no dialogue partner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tau2 — multi-turn: a server-side user simulator LLM plays the customer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appworld — long-horizon: many API calls across simulated apps</a:t>
            </a:r>
          </a:p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2E6FB5"/>
                </a:solidFill>
                <a:latin typeface="Calibri"/>
              </a:rPr>
              <a:t>Client contract</a:t>
            </a:r>
          </a:p>
          <a:p>
            <a:pPr algn="l" lvl="1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Point at a hostname, send Authorization: Bearer &lt;caller JWT&gt; — same from kind to prod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43000"/>
            <a:ext cx="5715000" cy="50292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Key design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7830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Pure-Python, HTTPS-only to Rossoctl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No shell-out: smaller image, no injection surface, structured errors, testable.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24231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Two-token auth model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Caller JWT attributes + routes only (never forwarded); Service mints its own benchmarker (ROPC) token to Rossoctl.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306324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 is the trust anchor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The JWT issuer selects the per-instance config — no separate instance argument, so no confused-deputy escape.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70332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Per-request ROPC login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Fresh Service token every request — no expiry handling.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434340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iss-keyed per-instance config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One file per issuer: Rossoctl URL, benchmarker cred, MLflow/S3, optional Keycloak backchannel + workload route templates.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98348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Enact only what the API allows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Deploy/run/report/export — now including AuthBridge plugin presets (layer-3). Only workload Secrets remain out-of-band: prechecked and reported (424), never silently ignored.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5623560"/>
            <a:ext cx="571500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MLflow with Service; S3 in the cloud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is co-located with the Service (per-service traces it emits + reads), not in the workload cluster; S3 is an external cloud service — the shared cross-service sink.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2.  Auto-Benchmarking Design Motif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client, one Service, N workload deployments — and every result ends up in one place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  <a:p>
            <a:pPr algn="l" lvl="1"/>
            <a:r>
              <a:rPr sz="1100" b="0" i="0">
                <a:solidFill>
                  <a:srgbClr val="FFFFFF"/>
                </a:solidFill>
                <a:latin typeface="Calibri"/>
              </a:rPr>
              <a:t>• deploy the workload</a:t>
            </a:r>
          </a:p>
          <a:p>
            <a:pPr algn="l" lvl="1"/>
            <a:r>
              <a:rPr sz="1100" b="0" i="0">
                <a:solidFill>
                  <a:srgbClr val="FFFFFF"/>
                </a:solidFill>
                <a:latin typeface="Calibri"/>
              </a:rPr>
              <a:t>• run the benchmark</a:t>
            </a:r>
          </a:p>
          <a:p>
            <a:pPr algn="l" lvl="1"/>
            <a:r>
              <a:rPr sz="1100" b="0" i="0">
                <a:solidFill>
                  <a:srgbClr val="FFFFFF"/>
                </a:solidFill>
                <a:latin typeface="Calibri"/>
              </a:rPr>
              <a:t>• read + export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shared sink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traces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188720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B3A5C"/>
                </a:solidFill>
                <a:latin typeface="Calibri"/>
              </a:rPr>
              <a:t>Workload Deployment Instances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2377440"/>
            <a:ext cx="2331720" cy="12344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Benchmark workload deployment helper</a:t>
            </a:r>
          </a:p>
          <a:p>
            <a:pPr algn="ctr"/>
            <a:r>
              <a:rPr sz="950" b="0" i="0">
                <a:solidFill>
                  <a:srgbClr val="F1E8F6"/>
                </a:solidFill>
                <a:latin typeface="Calibri"/>
              </a:rPr>
              <a:t>creates the MCP tool + A2A agent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103120"/>
            <a:ext cx="3154680" cy="14630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workload spans → MLflow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26080" y="2880360"/>
            <a:ext cx="1051559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3337560" y="258775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743200"/>
            <a:ext cx="2057400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7214616" y="245059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926080" y="3383280"/>
            <a:ext cx="5440680" cy="365759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6922008" y="33467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8092440" y="3566160"/>
            <a:ext cx="640080" cy="7498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302752" y="380390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6a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6b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85800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5760" y="5349240"/>
            <a:ext cx="11430000" cy="105156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1  Client → Service:  one bearer token, one hostname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2  Service → deployment helper:  create the workload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3  helper → Benchmark Workload:  MCP tool + A2A agent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4  Service → Benchmark Workload:  run the benchmark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54406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5  Service → MLflow:  emit the per-task trace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6a Workload → OTEL collector  ·  6b collector → MLflow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7  MLflow → Service:  read the records back</a:t>
            </a:r>
          </a:p>
          <a:p>
            <a:pPr>
              <a:spcAft>
                <a:spcPts val="0"/>
              </a:spcAft>
            </a:pPr>
            <a:r>
              <a:rPr sz="1100" b="0" i="0">
                <a:solidFill>
                  <a:srgbClr val="1F2A37"/>
                </a:solidFill>
                <a:latin typeface="Calibri"/>
              </a:rPr>
              <a:t>8  Service → S3:  export the run's artifacts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3.  Architecture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Relations between client, service, cluster-specific Keycloak / Rossoctl / workload, MLflow &amp; S3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188720"/>
            <a:ext cx="2560320" cy="777240"/>
          </a:xfrm>
          <a:prstGeom prst="round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Client</a:t>
            </a:r>
          </a:p>
          <a:p>
            <a:pPr algn="ctr"/>
            <a:r>
              <a:rPr sz="1050" b="0" i="0">
                <a:solidFill>
                  <a:srgbClr val="E6F0E6"/>
                </a:solidFill>
                <a:latin typeface="Calibri"/>
              </a:rPr>
              <a:t>off-cluster (host / CI)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2240280"/>
            <a:ext cx="2560320" cy="1691640"/>
          </a:xfrm>
          <a:prstGeom prst="roundRect">
            <a:avLst/>
          </a:prstGeom>
          <a:solidFill>
            <a:srgbClr val="2E6FB5"/>
          </a:solidFill>
          <a:ln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tIns="88900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pure-Python · async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iss-keyed InstanceRegistry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per-request ROPC login</a:t>
            </a:r>
          </a:p>
          <a:p>
            <a:pPr algn="l" lvl="1"/>
            <a:r>
              <a:rPr sz="1000" b="0" i="0">
                <a:solidFill>
                  <a:srgbClr val="FFFFFF"/>
                </a:solidFill>
                <a:latin typeface="Calibri"/>
              </a:rPr>
              <a:t>• deploy / run / report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S3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cloud (external)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91640" y="4343400"/>
            <a:ext cx="1234440" cy="86868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MLflow</a:t>
            </a:r>
          </a:p>
          <a:p>
            <a:pPr algn="ctr"/>
            <a:r>
              <a:rPr sz="1000" b="0" i="0">
                <a:solidFill>
                  <a:srgbClr val="EEEFF1"/>
                </a:solidFill>
                <a:latin typeface="Calibri"/>
              </a:rPr>
              <a:t>same cluster as Service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9624" y="1243584"/>
            <a:ext cx="8001000" cy="3977639"/>
          </a:xfrm>
          <a:prstGeom prst="roundRect">
            <a:avLst/>
          </a:prstGeom>
          <a:solidFill>
            <a:srgbClr val="F0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76472" y="1170432"/>
            <a:ext cx="8001000" cy="3977639"/>
          </a:xfrm>
          <a:prstGeom prst="roundRect">
            <a:avLst/>
          </a:prstGeom>
          <a:solidFill>
            <a:srgbClr val="E3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03320" y="1097280"/>
            <a:ext cx="8001000" cy="3977639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B3A5C"/>
                </a:solidFill>
                <a:latin typeface="Calibri"/>
              </a:rPr>
              <a:t>Per-cluster instance — selected by JWT  iss   (ykt3 · kind · …)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77639" y="1783080"/>
            <a:ext cx="2331720" cy="914400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Keycloak</a:t>
            </a:r>
          </a:p>
          <a:p>
            <a:pPr algn="ctr"/>
            <a:r>
              <a:rPr sz="1000" b="0" i="0">
                <a:solidFill>
                  <a:srgbClr val="FBEEE4"/>
                </a:solidFill>
                <a:latin typeface="Calibri"/>
              </a:rPr>
              <a:t>issuer + backchannel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39" y="2926080"/>
            <a:ext cx="2331720" cy="100584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Rossoctl</a:t>
            </a:r>
          </a:p>
          <a:p>
            <a:pPr algn="ctr"/>
            <a:r>
              <a:rPr sz="1000" b="0" i="0">
                <a:solidFill>
                  <a:srgbClr val="F1E8F6"/>
                </a:solidFill>
                <a:latin typeface="Calibri"/>
              </a:rPr>
              <a:t>backend API (server-side ops)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1783080"/>
            <a:ext cx="3154680" cy="214884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847088"/>
            <a:ext cx="2971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3D6E70"/>
                </a:solidFill>
                <a:latin typeface="Calibri"/>
              </a:rPr>
              <a:t>Benchmark Workload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2212848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MCP tool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exgentic-mcp-&lt;benchmark&gt;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49640" y="3063240"/>
            <a:ext cx="2788920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A2A agent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exgentic-a2a-tool_calling-&lt;b&gt;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23560" y="4315968"/>
            <a:ext cx="2468880" cy="64008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OTEL collector</a:t>
            </a:r>
          </a:p>
          <a:p>
            <a:pPr algn="ctr"/>
            <a:r>
              <a:rPr sz="950" b="0" i="0">
                <a:solidFill>
                  <a:srgbClr val="E4F0F0"/>
                </a:solidFill>
                <a:latin typeface="Calibri"/>
              </a:rPr>
              <a:t>forwards agent spans → MLflow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926080" y="1554480"/>
            <a:ext cx="1051559" cy="5029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282696" y="166420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645920" y="1965960"/>
            <a:ext cx="0" cy="27432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755647" y="1984248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926080" y="2377440"/>
            <a:ext cx="1051559" cy="13716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337560" y="2313432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926080" y="3246120"/>
            <a:ext cx="1051559" cy="9144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3337560" y="31546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309360" y="2944368"/>
            <a:ext cx="2057400" cy="301752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784848" y="30403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2926080" y="2807208"/>
            <a:ext cx="0" cy="896112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926080" y="2807208"/>
            <a:ext cx="3383280" cy="0"/>
          </a:xfrm>
          <a:prstGeom prst="line">
            <a:avLst/>
          </a:prstGeom>
          <a:ln w="25400">
            <a:solidFill>
              <a:srgbClr val="3D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309360" y="2807208"/>
            <a:ext cx="2057400" cy="256032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4498848" y="26883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659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8470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7955279" y="3794760"/>
            <a:ext cx="777241" cy="521208"/>
          </a:xfrm>
          <a:prstGeom prst="line">
            <a:avLst/>
          </a:prstGeom>
          <a:ln w="25400">
            <a:solidFill>
              <a:srgbClr val="3D6E70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8119872" y="394106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8a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2926080" y="4636008"/>
            <a:ext cx="2697480" cy="155448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4096512" y="4558284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8b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2651760" y="3931920"/>
            <a:ext cx="0" cy="411480"/>
          </a:xfrm>
          <a:prstGeom prst="line">
            <a:avLst/>
          </a:prstGeom>
          <a:ln w="25400">
            <a:solidFill>
              <a:srgbClr val="6B6B6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2532888" y="4014215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05840" y="3931920"/>
            <a:ext cx="0" cy="411480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649224" y="3977639"/>
            <a:ext cx="310896" cy="310896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303520"/>
            <a:ext cx="11430000" cy="1234440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  Client logs in to Keycloak (ROPC) → caller JWT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2  Client → Service:  Authorization: Bearer &lt;caller JWT&gt;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3  Service validates JWT (JWKS) + mints its own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benchmarker token (ROPC, via backchannel)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4  Service → Rossoctl: deploy / list agents + tools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5  Rossoctl creates the MCP tool + A2A agent in-cluster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0" y="5376672"/>
            <a:ext cx="54864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6  Service drives the MCP session + the A2A call itself;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the agent only issues execute_tool inside that session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7  Service emits the Agent.Session trace → MLflow (first)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8a A2A agent → OTEL collector   ·   8b collector → MLflow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      (optional workload spans — off by default)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9  Service reads back Agent.Session traces (MLflow)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1F2A37"/>
                </a:solidFill>
                <a:latin typeface="Calibri"/>
              </a:rPr>
              <a:t>10  Service exports run.json / report.* (S3)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4.  Architecture with Workload Specific Components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Inside the Benchmark Workload — what every benchmark has, and what only some of them add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097280"/>
            <a:ext cx="11338560" cy="548640"/>
          </a:xfrm>
          <a:prstGeom prst="roundRect">
            <a:avLst/>
          </a:prstGeom>
          <a:solidFill>
            <a:srgbClr val="6B6B6B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shared LLM gateway   ·   ete-litellm / litemaas   (external)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148840"/>
            <a:ext cx="1920240" cy="685800"/>
          </a:xfrm>
          <a:prstGeom prst="roundRect">
            <a:avLst/>
          </a:prstGeom>
          <a:solidFill>
            <a:srgbClr val="B55A2E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IBAC judge</a:t>
            </a:r>
          </a:p>
          <a:p>
            <a:pPr algn="ctr"/>
            <a:r>
              <a:rPr sz="850" b="0" i="0">
                <a:solidFill>
                  <a:srgbClr val="FBEEE4"/>
                </a:solidFill>
                <a:latin typeface="Calibri"/>
              </a:rPr>
              <a:t>an LLM call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063240"/>
            <a:ext cx="1920240" cy="777240"/>
          </a:xfrm>
          <a:prstGeom prst="round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Benchmarking Service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87168" y="1783080"/>
            <a:ext cx="9262872" cy="3017520"/>
          </a:xfrm>
          <a:prstGeom prst="roundRect">
            <a:avLst/>
          </a:prstGeom>
          <a:solidFill>
            <a:srgbClr val="FBFCFD"/>
          </a:solidFill>
          <a:ln w="19050">
            <a:solidFill>
              <a:srgbClr val="1B3A5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4553712"/>
            <a:ext cx="886968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1B3A5C"/>
                </a:solidFill>
                <a:latin typeface="Calibri"/>
              </a:rPr>
              <a:t>Benchmark Workload — one per benchmark, namespace team1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103120"/>
            <a:ext cx="416052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121408"/>
            <a:ext cx="393192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A2A agent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52928" y="2359152"/>
            <a:ext cx="3941063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agent container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exgentic-a2a-tool_calling-&lt;b&gt;  ·  the LLM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52928" y="3383280"/>
            <a:ext cx="3941063" cy="731520"/>
          </a:xfrm>
          <a:prstGeom prst="roundRect">
            <a:avLst/>
          </a:prstGeom>
          <a:solidFill>
            <a:srgbClr val="8E44AD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AuthBridge sidecar</a:t>
            </a:r>
          </a:p>
          <a:p>
            <a:pPr algn="ctr"/>
            <a:r>
              <a:rPr sz="900" b="0" i="0">
                <a:solidFill>
                  <a:srgbClr val="F1E8F6"/>
                </a:solidFill>
                <a:latin typeface="Calibri"/>
              </a:rPr>
              <a:t>proxy  ·  only with --plugin-preset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103120"/>
            <a:ext cx="4114800" cy="2194560"/>
          </a:xfrm>
          <a:prstGeom prst="roundRect">
            <a:avLst/>
          </a:prstGeom>
          <a:solidFill>
            <a:srgbClr val="E4F0F0"/>
          </a:solidFill>
          <a:ln w="15875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07808" y="2121408"/>
            <a:ext cx="38404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 i="0">
                <a:solidFill>
                  <a:srgbClr val="3D6E70"/>
                </a:solidFill>
                <a:latin typeface="Calibri"/>
              </a:rPr>
              <a:t>MCP tool pod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7808" y="2359152"/>
            <a:ext cx="3895344" cy="731520"/>
          </a:xfrm>
          <a:prstGeom prst="roundRect">
            <a:avLst/>
          </a:prstGeom>
          <a:solidFill>
            <a:srgbClr val="3D6E70"/>
          </a:solidFill>
          <a:ln w="22225">
            <a:solidFill>
              <a:srgbClr val="FFFFF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user simulator LLM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tau2 only  ·  plays the customer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383280"/>
            <a:ext cx="3895344" cy="731520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MCP server</a:t>
            </a:r>
          </a:p>
          <a:p>
            <a:pPr algn="ctr"/>
            <a:r>
              <a:rPr sz="900" b="0" i="0">
                <a:solidFill>
                  <a:srgbClr val="E4F0F0"/>
                </a:solidFill>
                <a:latin typeface="Calibri"/>
              </a:rPr>
              <a:t>exgentic-mcp-&lt;benchmark&gt;  ·  tasks + evaluation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2331720" y="2852928"/>
            <a:ext cx="521208" cy="274320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2478024" y="287121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14016" y="3840480"/>
            <a:ext cx="0" cy="566928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414016" y="4407408"/>
            <a:ext cx="5907024" cy="0"/>
          </a:xfrm>
          <a:prstGeom prst="line">
            <a:avLst/>
          </a:prstGeom>
          <a:ln w="25400">
            <a:solidFill>
              <a:srgbClr val="2E6FB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8321040" y="4114800"/>
            <a:ext cx="0" cy="292608"/>
          </a:xfrm>
          <a:prstGeom prst="line">
            <a:avLst/>
          </a:prstGeom>
          <a:ln w="25400">
            <a:solidFill>
              <a:srgbClr val="2E6FB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367528" y="4288536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480060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68172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9555480" y="1645920"/>
            <a:ext cx="0" cy="713232"/>
          </a:xfrm>
          <a:prstGeom prst="line">
            <a:avLst/>
          </a:prstGeom>
          <a:ln w="2540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9436608" y="18288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00600" y="3090672"/>
            <a:ext cx="0" cy="292608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5020056" y="3118104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793992" y="3749039"/>
            <a:ext cx="813816" cy="0"/>
          </a:xfrm>
          <a:prstGeom prst="line">
            <a:avLst/>
          </a:prstGeom>
          <a:ln w="25400">
            <a:solidFill>
              <a:srgbClr val="8E44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086600" y="3630167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331720" y="2697480"/>
            <a:ext cx="521208" cy="91440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2578608" y="320040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371600" y="1645920"/>
            <a:ext cx="0" cy="502920"/>
          </a:xfrm>
          <a:prstGeom prst="line">
            <a:avLst/>
          </a:prstGeom>
          <a:ln w="25400">
            <a:solidFill>
              <a:srgbClr val="B55A2E"/>
            </a:solidFill>
            <a:tailEnd type="triangle" w="med" len="med"/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1252728" y="1783080"/>
            <a:ext cx="237744" cy="237744"/>
          </a:xfrm>
          <a:prstGeom prst="ellipse">
            <a:avLst/>
          </a:prstGeom>
          <a:solidFill>
            <a:srgbClr val="E87A1E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4937760"/>
            <a:ext cx="672084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992624"/>
            <a:ext cx="6400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1B3A5C"/>
                </a:solidFill>
                <a:latin typeface="Calibri"/>
              </a:rPr>
              <a:t>Which components a benchmark actually gets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benchmark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035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MCP tool image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7639" y="5303520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LLMs per task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530352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 i="0">
                <a:solidFill>
                  <a:srgbClr val="1B3A5C"/>
                </a:solidFill>
                <a:latin typeface="Calibri"/>
              </a:rPr>
              <a:t>tool calls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gsm8k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45920" y="555040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exgentic-mcp-gsm8k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7639" y="5550408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89320" y="55504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tau2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45920" y="579729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exgentic-mcp-tau2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77639" y="5797296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2  (+ user simulator)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89320" y="5797296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appworld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45920" y="604418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exgentic-mcp-appworld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77639" y="6044184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1  (agent)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6044184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~13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 any preset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45920" y="629107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unchanged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977639" y="6291072"/>
            <a:ext cx="1965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+1 IBAC judge call per action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9320" y="6291072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60920" y="4937760"/>
            <a:ext cx="4389120" cy="1719072"/>
          </a:xfrm>
          <a:prstGeom prst="roundRect">
            <a:avLst/>
          </a:prstGeom>
          <a:solidFill>
            <a:srgbClr val="F4F6F8"/>
          </a:solidFill>
          <a:ln>
            <a:solidFill>
              <a:srgbClr val="C7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16368" y="4992624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1  Service → agent:  send_prompt, once per task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2  Service → MCP server:  list_tasks, create_session,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      evaluate_session, delete_session  (the verdict)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3  agent → gateway:  1 probe + N real chat calls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4  tau2 only:  the user simulator is a 2nd LLM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5  with a preset:  the agent's MCP calls go via the sidecar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6  sidecar → MCP server, once authorized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7  sidecar → judge, per isAction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8  the judge is itself an LLM call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Dashed outline = present only in some configurations.</a:t>
            </a:r>
          </a:p>
          <a:p>
            <a:pPr>
              <a:spcAft>
                <a:spcPts val="0"/>
              </a:spcAft>
            </a:pPr>
            <a:r>
              <a:rPr sz="950" b="0" i="0">
                <a:solidFill>
                  <a:srgbClr val="1F2A37"/>
                </a:solidFill>
                <a:latin typeface="Calibri"/>
              </a:rPr>
              <a:t>No preset: 5 + 6 become one direct agent → MCP call.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5.  The Two-Token Auth Model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the caller's token is never forwarded upstream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Caller JWT  (inbound)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Presented by the client as Authorization: Bearer.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Used ONLY to attribute (preferred_username) and route (iss → instance)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Signature validated via the issuer's JWKS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aud / exp deliberately lenient in the dev/ops context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B55A2E"/>
                </a:solidFill>
                <a:latin typeface="Calibri"/>
              </a:rPr>
              <a:t>• NEVER forwarded to Rossoctl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5B8C5A"/>
                </a:solidFill>
                <a:latin typeface="Calibri"/>
              </a:rPr>
              <a:t>benchmarker is special: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 caller JWT with preferred_username == benchmarker authorizes config ops (GET/PUT /config)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2E6FB5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Service token  (outbound)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Minted by the Service per request via ROPC (password grant) using the instance's benchmarker credential.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Always fresh → no expiry handling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Presented to Rossoctl for all cluster-facing ops</a:t>
            </a:r>
          </a:p>
          <a:p>
            <a:pPr algn="l" lvl="1">
              <a:spcAft>
                <a:spcPts val="300"/>
              </a:spcAft>
            </a:pPr>
            <a:r>
              <a:rPr sz="1300" b="1" i="0">
                <a:solidFill>
                  <a:srgbClr val="2E6FB5"/>
                </a:solidFill>
                <a:latin typeface="Calibri"/>
              </a:rPr>
              <a:t>• The Service acts under its OWN identity, not the caller's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2E6FB5"/>
                </a:solidFill>
                <a:latin typeface="Calibri"/>
              </a:rPr>
              <a:t>Backchannel split (iss ≠ dialed host):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When the iss host is unreachable (in-cluster kind), JWKS + token come from a configured backchannel URL; iss is matched, never dialed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12080"/>
            <a:ext cx="9235440" cy="100584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50" b="1" i="0">
                <a:solidFill>
                  <a:srgbClr val="1F2A37"/>
                </a:solidFill>
                <a:latin typeface="Calibri"/>
              </a:rPr>
              <a:t>Implication:  at the Rossoctl / cluster layer every action appears as the Service's identity — so per-user attribution &amp; audit live in the Service, keyed on (iss, preferred_username).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6.  Benchmark Catalog &amp; Run Lifecycle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43000"/>
            <a:ext cx="525780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Catalog (static registry)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783080"/>
            <a:ext cx="5257800" cy="91440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3D6E70"/>
                </a:solidFill>
                <a:latin typeface="Calibri"/>
              </a:rPr>
              <a:t>gsm8k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single-turn · needs hf-secret + openai-secret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2834640"/>
            <a:ext cx="5257800" cy="91440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8E44AD"/>
                </a:solidFill>
                <a:latin typeface="Calibri"/>
              </a:rPr>
              <a:t>tau2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multi-turn · user-simulator LLM runs server-side in the MCP pod · raise timeout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3886200"/>
            <a:ext cx="525780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27000"/>
          <a:lstStyle/>
          <a:p>
            <a:pPr algn="l"/>
            <a:r>
              <a:rPr sz="1500" b="1" i="0">
                <a:solidFill>
                  <a:srgbClr val="B55A2E"/>
                </a:solidFill>
                <a:latin typeface="Calibri"/>
              </a:rPr>
              <a:t>appworld</a:t>
            </a:r>
          </a:p>
          <a:p>
            <a:pPr algn="l"/>
            <a:r>
              <a:rPr sz="1150" b="0" i="0">
                <a:solidFill>
                  <a:srgbClr val="1F2A37"/>
                </a:solidFill>
                <a:latin typeface="Calibri"/>
              </a:rPr>
              <a:t>long-horizon across simulated apps · runs e2e · raise task_timeout_seconds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143000"/>
            <a:ext cx="5760720" cy="457200"/>
          </a:xfrm>
          <a:prstGeom prst="rect">
            <a:avLst/>
          </a:prstGeom>
          <a:solidFill>
            <a:srgbClr val="1B3A5C"/>
          </a:solidFill>
          <a:ln w="12700">
            <a:solidFill>
              <a:srgbClr val="1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Lifecycle (REST)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783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/benchmarks/{n}/deploy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create MCP tool + A2A agent → 201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72200" y="20848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09360" y="24688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/benchmarks/{n}/status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until tool_ready &amp; agent_ready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172200" y="27706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309360" y="31546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POST /benchmarks/{n}/runs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precheck → 202 run_id  (409 not deployed · 424 secret missing)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564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9360" y="38404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poll pending → running → succeeded / failed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1422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45262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GET …/runs/{id}/report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MLflow records + artifacts  (409 if MLflow unset)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72200" y="4828032"/>
            <a:ext cx="137160" cy="640080"/>
          </a:xfrm>
          <a:prstGeom prst="line">
            <a:avLst/>
          </a:prstGeom>
          <a:ln w="12700">
            <a:solidFill>
              <a:srgbClr val="C7C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5212080"/>
            <a:ext cx="5440680" cy="60350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101600"/>
          <a:lstStyle/>
          <a:p>
            <a:pPr algn="l"/>
            <a:r>
              <a:rPr sz="1250" b="1" i="0">
                <a:solidFill>
                  <a:srgbClr val="1F2A37"/>
                </a:solidFill>
                <a:latin typeface="Calibri"/>
              </a:rPr>
              <a:t>download from S3</a:t>
            </a:r>
          </a:p>
          <a:p>
            <a:pPr algn="l"/>
            <a:r>
              <a:rPr sz="1050" b="0" i="0">
                <a:solidFill>
                  <a:srgbClr val="3A4654"/>
                </a:solidFill>
                <a:latin typeface="Calibri"/>
              </a:rPr>
              <a:t>run.json · report.* · token_report.* · span_report.* · manifest.json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144768" y="1920240"/>
            <a:ext cx="0" cy="3931920"/>
          </a:xfrm>
          <a:prstGeom prst="line">
            <a:avLst/>
          </a:prstGeom>
          <a:ln w="19050">
            <a:solidFill>
              <a:srgbClr val="E87A1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7.1  The Three Benchmarks — a Difficulty Ladder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Not interchangeable suites: each costs ~an order of magnitude more than the last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97763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3017520"/>
                <a:gridCol w="3017520"/>
                <a:gridCol w="3017520"/>
              </a:tblGrid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What it tests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multi-step arithmetic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dialogue + tools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app automation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Tasks measured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60 (50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40 (35 clean)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Pass rate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Input tokens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343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82,966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210,792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Output tokens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1,955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21,499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LLM calls / task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23.6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Tool calls / task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1.1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11.2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13.4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Median task latency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5.3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92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232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Slowest task seen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62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581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31469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Model we use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gpt-5-mini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claude-sonnet-5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gemini-2.5-pro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33148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F2A37"/>
                          </a:solidFill>
                          <a:latin typeface="Calibri"/>
                        </a:rPr>
                        <a:t>Task pool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8.5K (HuggingFace)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114 (retail domain)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grouped scenarios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5532120"/>
            <a:ext cx="11338560" cy="86868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The scale gap is the headline: a tau2 task costs ~240x the input tokens of a gsm8k task, an appworld task ~615x. A 50-task gsm8k run is minutes; a 20-task appworld run is half an hour and millions of tokens. Budget by benchmark, not by task count.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7.2  What Each Benchmark Stresses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Why all three are in the matrix, and what a result from each does and does not tell you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188720"/>
            <a:ext cx="370332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 —  the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847088"/>
            <a:ext cx="3703320" cy="315468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One prompt in, one answer out — no dialogue partner.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~1 real LLM call + 1 tool call: the simplest agentic loop.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Stresses almost nothing about the platform — which is the point.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 failure here means INFRASTRUCTURE: deploy, auth, LLM reach, telemetry.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Saturated at ~1.0, so it cannot discriminate models. Never read it as one.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Deterministic enough that task 0 costs 320 input tokens on every cluster — we use that to prove two environments are comparable.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3611880" cy="566928"/>
          </a:xfrm>
          <a:prstGeom prst="roundRect">
            <a:avLst/>
          </a:prstGeom>
          <a:solidFill>
            <a:srgbClr val="3D6E7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gsm8k — the canary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0248" y="1188720"/>
            <a:ext cx="370332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 —  the discriminator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0248" y="1847088"/>
            <a:ext cx="3703320" cy="315468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Multi-turn: a server-side USER SIMULATOR LLM plays the customer.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Two models talk to each other, plus ~11 tool calls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Domain is retail (114 tasks) — the library default, never recorded in artifacts.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The only leg where model choice dominates: 0.1 with gpt-5-mini vs 0.9 with claude-sonnet-5 on the SAME 10 tasks.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Episodes are nondeterministic: across 6 samples of the same 10 tasks, 4 flip.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At n=10 one task moves pass_rate by 0.10 — it cannot resolve less than that.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1188720"/>
            <a:ext cx="3611880" cy="566928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tau2 — the discriminator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29016" y="1188720"/>
            <a:ext cx="370332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 —  the stress test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847088"/>
            <a:ext cx="3703320" cy="315468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381000"/>
          <a:lstStyle/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Realistic chores across simulated apps: discover APIs, chain many calls.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~24 LLM calls, ~13 tool calls, ~211k input, ~4 min per task.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Evaluation is PROGRAMMATIC unit tests over final app state — no LLM judge.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Pass rate 0.0 is honest, not broken: runs complete and tokens record — the agent just does not finish the job.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~94% of tasks call finish: it believes it is done and the assertions disagree. No verification pass.</a:t>
            </a:r>
          </a:p>
          <a:p>
            <a:pPr algn="l">
              <a:spcAft>
                <a:spcPts val="500"/>
              </a:spcAft>
            </a:pPr>
            <a:r>
              <a:rPr sz="1000" b="0" i="0">
                <a:solidFill>
                  <a:srgbClr val="1F2A37"/>
                </a:solidFill>
                <a:latin typeface="Calibri"/>
              </a:rPr>
              <a:t>• Its job here is pipeline stress: long contexts, big traces, real timeouts.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29016" y="1188720"/>
            <a:ext cx="3611880" cy="566928"/>
          </a:xfrm>
          <a:prstGeom prst="round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appworld — the stress test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11480" y="5212080"/>
          <a:ext cx="11338560" cy="1325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766560"/>
                <a:gridCol w="4572000"/>
              </a:tblGrid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If you want to …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</a:rPr>
                        <a:t>use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check a cluster / deploy / auth / telemetry path works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1–10 tasks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exercise concurrency and volume cheaply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gsm8k, 50 tasks at max_parallel_sessions=4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compare models meaningfully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tau2 — it discriminates; gsm8k saturates at ~1.0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stress long contexts, long tasks, timeouts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7.3  Reading the Numbers — Five Things That Mislead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Every one of these cost us a wrong conclusion first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207008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1.  pass_rate = evaluated_pass / total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task that ERRORS before evaluation counts as not passed, so a low rate can mean “failed the task” or “never got judged”. Check the error column too.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267712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2.  The llm column overcounts real calls by one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Every task issues an extra max_tokens=1 capability probe, counted as a chat span. llm=2 on gsm8k means ONE real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3328416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3.  Implausibly small tokens = lost telemetry, and tokens == 0 will not catch it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When a usage-bearing span is lost, what survives is the probe — whose own usage is 0/0 on reasoning models but 8/1 on claude-sonnet-5 and 1/0 on gemini. Use the structural test: llm &lt;= 1 with tool &gt;= 2 is impossible.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4389120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4.  Output varies MORE than input, in most runs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Measured OUT CV &gt; IN CV in 27 of 33 legs. gsm8k's prompt is near-constant while answer length swings; only long-horizon appworld inverts it. Do not infer a direction — read the CV.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5449824"/>
            <a:ext cx="11338560" cy="914400"/>
          </a:xfrm>
          <a:prstGeom prst="roundRect">
            <a:avLst/>
          </a:prstGeom>
          <a:solidFill>
            <a:srgbClr val="FBEEE4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25400" lIns="177800" rIns="177800"/>
          <a:lstStyle/>
          <a:p>
            <a:pPr algn="l"/>
            <a:r>
              <a:rPr sz="1300" b="1" i="0">
                <a:solidFill>
                  <a:srgbClr val="1F2A37"/>
                </a:solidFill>
                <a:latin typeface="Calibri"/>
              </a:rPr>
              <a:t>5.  Task selection is deterministic</a:t>
            </a:r>
          </a:p>
          <a:p>
            <a:pPr algn="l"/>
            <a:r>
              <a:rPr sz="1100" b="0" i="0">
                <a:solidFill>
                  <a:srgbClr val="3A4654"/>
                </a:solidFill>
                <a:latin typeface="Calibri"/>
              </a:rPr>
              <a:t>A run takes the first max_tasks tasks, so the same task_id is the same task across runs and clusters, and a smaller run is a prefix of a larger one. That is what makes cross-platform comparison like-for-like — six legs matched to the byte.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8.1  The Canonical 12-Run Matrix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One fixed set of 12 request bodies — the same on every platform, every version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11338560" cy="3611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640080"/>
                <a:gridCol w="1554480"/>
                <a:gridCol w="914400"/>
                <a:gridCol w="1097280"/>
                <a:gridCol w="7132320"/>
              </a:tblGrid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tasks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parallel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what it varies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baseline — the smoke test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volume, still serial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volume + concurrency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model swap → Azure/gpt-4.1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auth-only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ibac-only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AuthBridge preset: full (enforce)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per-plugin override ibac:observe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+ user simulator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multi-turn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77836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long-horizon, gemini-2.5-pro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77848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long-horizon under concurrency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411480" y="4983480"/>
            <a:ext cx="11338560" cy="141732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228600" rIns="228600"/>
          <a:lstStyle/>
          <a:p>
            <a:pPr algn="ctr"/>
            <a:r>
              <a:rPr sz="1200" b="0" i="0">
                <a:solidFill>
                  <a:srgbClr val="1F2A37"/>
                </a:solidFill>
                <a:latin typeface="Calibri"/>
              </a:rPr>
              <a:t>Why a FIXED matrix: task selection is deterministic, so the same leg run anywhere executes the same tasks in the same order. That is what makes a difference attributable to the platform rather than to the workload — and it is why every leg deploys fresh, since reusing a warm agent silently loses telemetry. Driven by one command (reference/run-12.py, ~1h55m); the three generated documents in results/ derive every number from the mirrored artifacts.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8.2  What the 12 Runs Measured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v1.24 on OpenShift (Service on ykt3, workloads on ykt2) — 138 tasks, all 12 legs succeeded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532120" cy="3794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8640"/>
                <a:gridCol w="1371600"/>
                <a:gridCol w="914400"/>
                <a:gridCol w="1051560"/>
                <a:gridCol w="1645920"/>
              </a:tblGrid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wall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input tokens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97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26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32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780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425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1904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2164 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1912"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1769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172200" y="1188720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All eight gsm8k legs pass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1.00 everywhere except #4, where ONE task of five fails on the gpt-4.1 swap. The four AuthBridge presets do not change the result — only the latency.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975104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tau2 is the only leg that moves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0.70 and 0.85. Across six samples of the same 10 tasks, four flip: at n=10 one task is worth 0.10, so this cannot resolve less than that.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761488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appworld 0.00 is the honest result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Runs complete, tokens record, evaluation says the goal was not met. ~94% of tasks self-declare finish.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547872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Token attribution complete: 0 of 138 rows lost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The previous matrix had 15 damaged rows that a tokens == 0 check reported as clean. Fresh deploy per leg, plus a structural detector.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334256"/>
            <a:ext cx="5577840" cy="7315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2E6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200" b="1" i="0">
                <a:solidFill>
                  <a:srgbClr val="1F2A37"/>
                </a:solidFill>
                <a:latin typeface="Calibri"/>
              </a:rPr>
              <a:t>8.4M input / 674k output tokens</a:t>
            </a:r>
          </a:p>
          <a:p>
            <a:pPr algn="l"/>
            <a:r>
              <a:rPr sz="1000" b="0" i="0">
                <a:solidFill>
                  <a:srgbClr val="3A4654"/>
                </a:solidFill>
                <a:latin typeface="Calibri"/>
              </a:rPr>
              <a:t>over 5,438 s of wall time — appworld alone is 71% of the input, on 25 of 138 tasks.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9.1  OpenShift vs KinD — Like-for-Like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Same 12 request bodies, same Service version, verified-identical instance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6903720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02920"/>
                <a:gridCol w="1143000"/>
                <a:gridCol w="868680"/>
                <a:gridCol w="914400"/>
                <a:gridCol w="1234440"/>
                <a:gridCol w="1234440"/>
                <a:gridCol w="1005840"/>
              </a:tblGrid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bench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pass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3,166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15,684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3,613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gsm8k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1,564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852,240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847,530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tau2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0.85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1,550,718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1,552,641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295421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1,988,986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1,150,541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5428"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appworld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4,009,033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>3,646,292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i="0">
                          <a:solidFill>
                            <a:srgbClr val="1F2A37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43800" y="1188720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11 of 12 pass rates identical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#10 differs, by one task of twenty (0.85 vs 0.80) — and tau2 is the leg we know flips run to run on either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43800" y="1975104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7 legs byte-identical on input tokens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320 / 3,166 / 15,684 / 1,564 x4. Deterministic task selection plus the same model means identical work — the strongest available proof this is a like-for-like comparison, not merely a similar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2761488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Wall time is a dead heat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5,438 s on OpenShift vs 5,429 s on a single KinD node — 0.2% apart in total, though individual legs differ by up to 8x.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43800" y="3547872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0 lost-attribution rows on both sides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138 OCP tasks, 135 KinD tasks.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43800" y="4334256"/>
            <a:ext cx="4206240" cy="731520"/>
          </a:xfrm>
          <a:prstGeom prst="roundRect">
            <a:avLst/>
          </a:prstGeom>
          <a:solidFill>
            <a:srgbClr val="E4F0F0"/>
          </a:solidFill>
          <a:ln w="12700">
            <a:solidFill>
              <a:srgbClr val="3D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So the platform is not the variable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Where the two differ it traces to episode nondeterminism (tau2), small samples (#4 = one task), or appworld task timeouts — not to OpenShift vs KinD.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9.2  What AuthBridge Costs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Legs #3 and #5–8 ran byte-identical work, so latency differences are the plugin config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887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691640"/>
                <a:gridCol w="173736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cost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measured from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Sidecar present at all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~+9.5 s / task (OCP)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flat across all four presets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sidecar but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+0.50 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auth-only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+1.96 s on top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full + observe (all 5 judged)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3246120"/>
          <a:ext cx="5806440" cy="1737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143000"/>
                <a:gridCol w="1143000"/>
                <a:gridCol w="114300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OCP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 marL="63500" marR="63500" marT="12700" marB="12700" anchor="ctr">
                    <a:solidFill>
                      <a:srgbClr val="1B3A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connect_mcp with sidecar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3131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168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18.6x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unjudged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545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13 ms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41.1x</a:t>
                      </a:r>
                    </a:p>
                  </a:txBody>
                  <a:tcPr marL="63500" marR="63500" marT="12700" marB="12700" anchor="ctr">
                    <a:solidFill>
                      <a:srgbClr val="F4F6F8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F2A37"/>
                          </a:solidFill>
                          <a:latin typeface="Calibri"/>
                        </a:rPr>
                        <a:t>tool call, judged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2507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1167 ms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F2A37"/>
                          </a:solidFill>
                          <a:latin typeface="Calibri"/>
                        </a:rPr>
                        <a:t>2.1x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46520" y="1188720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The judge is itself an LLM call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 POSTs to a chat-completions endpoint per authorized action, which is why it costs seconds and why its latency is so variable.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2432304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Most of the OCP figure is topology, not plugins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judged-call cost is comparable across platforms (2.1x) because it is dominated by a shared external gateway. The fixed cost is 8x apart because this OCP matrix is cross-cluster — token exchange over external routes. Do NOT quote +9.5 s as “the cost of AuthBridge”; the single-node figures (~+1.2 s fixed, ~+1.1 s per judged call) are the better estimate.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46520" y="3675888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Presets cannot be ranked from these numbers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Only 1 of 6 IBAC legs authorized all of its tool calls: OCP judged 4/5, 3/5, 5/5 and KinD 3/5, 4/5, 3/5. A leg that judged fewer calls shows a lower median — a mixture, not a saving. Whether that is decision caching under concurrency or a fail-open gap is still OPEN; the test is one ibac-only leg at parallelism 1.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6520" y="4919472"/>
            <a:ext cx="5303520" cy="1188720"/>
          </a:xfrm>
          <a:prstGeom prst="roundRect">
            <a:avLst/>
          </a:prstGeom>
          <a:solidFill>
            <a:srgbClr val="F1E8F6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25400" lIns="127000"/>
          <a:lstStyle/>
          <a:p>
            <a:pPr algn="l"/>
            <a:r>
              <a:rPr sz="1150" b="1" i="0">
                <a:solidFill>
                  <a:srgbClr val="1F2A37"/>
                </a:solidFill>
                <a:latin typeface="Calibri"/>
              </a:rPr>
              <a:t>Latency only</a:t>
            </a:r>
          </a:p>
          <a:p>
            <a:pPr algn="l"/>
            <a:r>
              <a:rPr sz="950" b="0" i="0">
                <a:solidFill>
                  <a:srgbClr val="3A4654"/>
                </a:solidFill>
                <a:latin typeface="Calibri"/>
              </a:rPr>
              <a:t>The sidecar's CPU and memory cost is unmeasured — every infra field in these runs is 0.0.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50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55600"/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10.  What the Service Can &amp; Cannot Enact</a:t>
            </a:r>
          </a:p>
          <a:p>
            <a:r>
              <a:rPr sz="1400" b="0" i="0">
                <a:solidFill>
                  <a:srgbClr val="C9D9EC"/>
                </a:solidFill>
                <a:latin typeface="Calibri"/>
              </a:rPr>
              <a:t>The HTTP-only boundary, made explicit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5394960" cy="457200"/>
          </a:xfrm>
          <a:prstGeom prst="rect">
            <a:avLst/>
          </a:prstGeom>
          <a:solidFill>
            <a:srgbClr val="5B8C5A"/>
          </a:solidFill>
          <a:ln w="12700">
            <a:solidFill>
              <a:srgbClr val="5B8C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✓  Enacts over HTTP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 MCP tool + A2A agent (CPU/mem, image, env)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Deploy-time model swap (per-experiment agent)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authbridge_enabled → inject the sidecar (layer-2)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plugin_preset / plugins / on_error → AuthBridge layer-3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→ pluginPreset/plugins/onError; operator renders ConfigMap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Run benchmark sessions; collect pass/fail + latency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Emit + read MLflow traces; export to S3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Service-owned config: MLflow + S3 via PUT /config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benchmarker only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309360" y="1234440"/>
            <a:ext cx="5394960" cy="457200"/>
          </a:xfrm>
          <a:prstGeom prst="rect">
            <a:avLst/>
          </a:prstGeom>
          <a:solidFill>
            <a:srgbClr val="B55A2E"/>
          </a:solidFill>
          <a:ln w="12700">
            <a:solidFill>
              <a:srgbClr val="B55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✗  Out-of-band (reports, doesn't 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Cluster Secrets (hf-secret, openai-secret)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operator provisions; run precheck returns 424 naming it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AuthBridge CLUSTER config — ibac judgeEndpoint / judgeModel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in the platform-config ConfigMap, not the agent API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Any cluster-level API call — Rossoctl does these server-side</a:t>
            </a:r>
          </a:p>
          <a:p>
            <a:pPr algn="l">
              <a:spcAft>
                <a:spcPts val="300"/>
              </a:spcAft>
            </a:pPr>
            <a:r>
              <a:rPr sz="1350" b="1" i="0">
                <a:solidFill>
                  <a:srgbClr val="B55A2E"/>
                </a:solidFill>
                <a:latin typeface="Calibri"/>
              </a:rPr>
              <a:t>Principle:</a:t>
            </a:r>
          </a:p>
          <a:p>
            <a:pPr algn="l" lvl="1"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Never silently ignore an un-enactable request —</a:t>
            </a:r>
          </a:p>
          <a:p>
            <a:pPr algn="l" lvl="2">
              <a:spcAft>
                <a:spcPts val="300"/>
              </a:spcAft>
            </a:pPr>
            <a:r>
              <a:rPr sz="1150" b="0" i="0">
                <a:solidFill>
                  <a:srgbClr val="3A4654"/>
                </a:solidFill>
                <a:latin typeface="Calibri"/>
              </a:rPr>
              <a:t>precheck (424) or reject (422), with an actionable reason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5257800"/>
            <a:ext cx="9235440" cy="685800"/>
          </a:xfrm>
          <a:prstGeom prst="roundRect">
            <a:avLst/>
          </a:prstGeom>
          <a:solidFill>
            <a:srgbClr val="EEEFF1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50" b="1" i="0">
                <a:solidFill>
                  <a:srgbClr val="1F2A37"/>
                </a:solidFill>
                <a:latin typeface="Calibri"/>
              </a:rPr>
              <a:t>Cluster-agnostic by construction: works on kind / vanilla k8s / OpenShift; cross-cluster runs use per-instance route templates + a reachable internal issuer.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