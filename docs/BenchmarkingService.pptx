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977639"/>
            <a:ext cx="12192000" cy="91440"/>
          </a:xfrm>
          <a:prstGeom prst="rect">
            <a:avLst/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103120"/>
            <a:ext cx="10515600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4400" b="1" i="0">
                <a:solidFill>
                  <a:srgbClr val="FFFFFF"/>
                </a:solidFill>
                <a:latin typeface="Calibri"/>
              </a:rPr>
              <a:t>Benchmarking Service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20040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0" i="0">
                <a:solidFill>
                  <a:srgbClr val="C9D9EC"/>
                </a:solidFill>
                <a:latin typeface="Calibri"/>
              </a:rPr>
              <a:t>Architecture &amp; Design Overview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29768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 i="0">
                <a:solidFill>
                  <a:srgbClr val="D8E3F0"/>
                </a:solidFill>
                <a:latin typeface="Calibri"/>
              </a:rPr>
              <a:t>A pure-Python, HTTP-only service that deploys and evaluates agent benchmarks</a:t>
            </a:r>
          </a:p>
          <a:p>
            <a:pPr algn="l">
              <a:spcAft>
                <a:spcPts val="300"/>
              </a:spcAft>
            </a:pPr>
            <a:r>
              <a:rPr sz="1600" b="0" i="0">
                <a:solidFill>
                  <a:srgbClr val="D8E3F0"/>
                </a:solidFill>
                <a:latin typeface="Calibri"/>
              </a:rPr>
              <a:t>across multiple cluster-specific Rossoctl instances.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Agenda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What this deck covers, in order</a:t>
            </a:r>
          </a:p>
        </p:txBody>
      </p:sp>
      <p:sp>
        <p:nvSpPr>
          <p:cNvPr id="3" name="Oval 2"/>
          <p:cNvSpPr/>
          <p:nvPr/>
        </p:nvSpPr>
        <p:spPr>
          <a:xfrm>
            <a:off x="685800" y="1472184"/>
            <a:ext cx="420624" cy="420624"/>
          </a:xfrm>
          <a:prstGeom prst="ellipse">
            <a:avLst/>
          </a:prstGeom>
          <a:solidFill>
            <a:srgbClr val="E87A1E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1417320"/>
            <a:ext cx="45262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1B3A5C"/>
                </a:solidFill>
                <a:latin typeface="Calibri"/>
              </a:rPr>
              <a:t>Overview &amp; key design decisions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1719072"/>
            <a:ext cx="4526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3A4654"/>
                </a:solidFill>
                <a:latin typeface="Calibri"/>
              </a:rPr>
              <a:t>what the Service is, and the seven choices that shape it</a:t>
            </a:r>
          </a:p>
        </p:txBody>
      </p:sp>
      <p:sp>
        <p:nvSpPr>
          <p:cNvPr id="6" name="Oval 5"/>
          <p:cNvSpPr/>
          <p:nvPr/>
        </p:nvSpPr>
        <p:spPr>
          <a:xfrm>
            <a:off x="685800" y="2551176"/>
            <a:ext cx="420624" cy="420624"/>
          </a:xfrm>
          <a:prstGeom prst="ellipse">
            <a:avLst/>
          </a:prstGeom>
          <a:solidFill>
            <a:srgbClr val="E87A1E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2496312"/>
            <a:ext cx="45262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1B3A5C"/>
                </a:solidFill>
                <a:latin typeface="Calibri"/>
              </a:rPr>
              <a:t>Architecture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2798064"/>
            <a:ext cx="4526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3A4654"/>
                </a:solidFill>
                <a:latin typeface="Calibri"/>
              </a:rPr>
              <a:t>client, Service, and the per-cluster instance selected by JWT iss</a:t>
            </a:r>
          </a:p>
        </p:txBody>
      </p:sp>
      <p:sp>
        <p:nvSpPr>
          <p:cNvPr id="9" name="Oval 8"/>
          <p:cNvSpPr/>
          <p:nvPr/>
        </p:nvSpPr>
        <p:spPr>
          <a:xfrm>
            <a:off x="685800" y="3630168"/>
            <a:ext cx="420624" cy="420624"/>
          </a:xfrm>
          <a:prstGeom prst="ellipse">
            <a:avLst/>
          </a:prstGeom>
          <a:solidFill>
            <a:srgbClr val="E87A1E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3575304"/>
            <a:ext cx="45262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1B3A5C"/>
                </a:solidFill>
                <a:latin typeface="Calibri"/>
              </a:rPr>
              <a:t>Architecture with workload specific components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3877056"/>
            <a:ext cx="4526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3A4654"/>
                </a:solidFill>
                <a:latin typeface="Calibri"/>
              </a:rPr>
              <a:t>inside the workload: sidecar, user simulator, IBAC judge</a:t>
            </a:r>
          </a:p>
        </p:txBody>
      </p:sp>
      <p:sp>
        <p:nvSpPr>
          <p:cNvPr id="12" name="Oval 11"/>
          <p:cNvSpPr/>
          <p:nvPr/>
        </p:nvSpPr>
        <p:spPr>
          <a:xfrm>
            <a:off x="685800" y="4709160"/>
            <a:ext cx="420624" cy="420624"/>
          </a:xfrm>
          <a:prstGeom prst="ellipse">
            <a:avLst/>
          </a:prstGeom>
          <a:solidFill>
            <a:srgbClr val="E87A1E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0160" y="4654296"/>
            <a:ext cx="45262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1B3A5C"/>
                </a:solidFill>
                <a:latin typeface="Calibri"/>
              </a:rPr>
              <a:t>The two-token auth model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4956048"/>
            <a:ext cx="4526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3A4654"/>
                </a:solidFill>
                <a:latin typeface="Calibri"/>
              </a:rPr>
              <a:t>why the caller's token is never forwarded upstream</a:t>
            </a:r>
          </a:p>
        </p:txBody>
      </p:sp>
      <p:sp>
        <p:nvSpPr>
          <p:cNvPr id="15" name="Oval 14"/>
          <p:cNvSpPr/>
          <p:nvPr/>
        </p:nvSpPr>
        <p:spPr>
          <a:xfrm>
            <a:off x="6492240" y="1472184"/>
            <a:ext cx="420624" cy="420624"/>
          </a:xfrm>
          <a:prstGeom prst="ellipse">
            <a:avLst/>
          </a:prstGeom>
          <a:solidFill>
            <a:srgbClr val="E87A1E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86600" y="1417320"/>
            <a:ext cx="46634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1B3A5C"/>
                </a:solidFill>
                <a:latin typeface="Calibri"/>
              </a:rPr>
              <a:t>Benchmark catalog &amp; run lifecycle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86600" y="1719072"/>
            <a:ext cx="4663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3A4654"/>
                </a:solidFill>
                <a:latin typeface="Calibri"/>
              </a:rPr>
              <a:t>the three benchmarks and the REST flow that drives them</a:t>
            </a:r>
          </a:p>
        </p:txBody>
      </p:sp>
      <p:sp>
        <p:nvSpPr>
          <p:cNvPr id="18" name="Oval 17"/>
          <p:cNvSpPr/>
          <p:nvPr/>
        </p:nvSpPr>
        <p:spPr>
          <a:xfrm>
            <a:off x="6492240" y="2551176"/>
            <a:ext cx="420624" cy="420624"/>
          </a:xfrm>
          <a:prstGeom prst="ellipse">
            <a:avLst/>
          </a:prstGeom>
          <a:solidFill>
            <a:srgbClr val="E87A1E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86600" y="2496312"/>
            <a:ext cx="46634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1B3A5C"/>
                </a:solidFill>
                <a:latin typeface="Calibri"/>
              </a:rPr>
              <a:t>The three benchmarks — what they measure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86600" y="2798064"/>
            <a:ext cx="4663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3A4654"/>
                </a:solidFill>
                <a:latin typeface="Calibri"/>
              </a:rPr>
              <a:t>6.1 the difficulty ladder · 6.2 what each stresses · 6.3 the traps</a:t>
            </a:r>
          </a:p>
        </p:txBody>
      </p:sp>
      <p:sp>
        <p:nvSpPr>
          <p:cNvPr id="21" name="Oval 20"/>
          <p:cNvSpPr/>
          <p:nvPr/>
        </p:nvSpPr>
        <p:spPr>
          <a:xfrm>
            <a:off x="6492240" y="3630168"/>
            <a:ext cx="420624" cy="420624"/>
          </a:xfrm>
          <a:prstGeom prst="ellipse">
            <a:avLst/>
          </a:prstGeom>
          <a:solidFill>
            <a:srgbClr val="E87A1E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86600" y="3575304"/>
            <a:ext cx="46634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1B3A5C"/>
                </a:solidFill>
                <a:latin typeface="Calibri"/>
              </a:rPr>
              <a:t>What the Service can &amp; cannot enact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86600" y="3877056"/>
            <a:ext cx="4663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3A4654"/>
                </a:solidFill>
                <a:latin typeface="Calibri"/>
              </a:rPr>
              <a:t>the HTTP-only boundary, made explicit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080760" y="1371600"/>
            <a:ext cx="0" cy="3886200"/>
          </a:xfrm>
          <a:prstGeom prst="line">
            <a:avLst/>
          </a:prstGeom>
          <a:ln w="12700">
            <a:solidFill>
              <a:srgbClr val="C7CE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1.  Overview &amp; Key Design Decisions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43000"/>
            <a:ext cx="5394960" cy="502920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What it 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783080"/>
            <a:ext cx="534924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 i="0">
                <a:solidFill>
                  <a:srgbClr val="1F2A37"/>
                </a:solidFill>
                <a:latin typeface="Calibri"/>
              </a:rPr>
              <a:t>Deploys a benchmark's MCP tool + A2A agent, runs the evaluation, reads results, and exports them — all over HTTP.</a:t>
            </a:r>
          </a:p>
          <a:p>
            <a:pPr algn="l">
              <a:spcAft>
                <a:spcPts val="300"/>
              </a:spcAft>
            </a:pPr>
            <a:r>
              <a:rPr sz="1400" b="1" i="0">
                <a:solidFill>
                  <a:srgbClr val="2E6FB5"/>
                </a:solidFill>
                <a:latin typeface="Calibri"/>
              </a:rPr>
              <a:t>Objectives</a:t>
            </a:r>
          </a:p>
          <a:p>
            <a:pPr algn="l" lvl="1">
              <a:spcAft>
                <a:spcPts val="300"/>
              </a:spcAft>
            </a:pPr>
            <a:r>
              <a:rPr sz="1350" b="0" i="0">
                <a:solidFill>
                  <a:srgbClr val="1F2A37"/>
                </a:solidFill>
                <a:latin typeface="Calibri"/>
              </a:rPr>
              <a:t>• Automate benchmarking lifecycle operations</a:t>
            </a:r>
          </a:p>
          <a:p>
            <a:pPr algn="l" lvl="1">
              <a:spcAft>
                <a:spcPts val="300"/>
              </a:spcAft>
            </a:pPr>
            <a:r>
              <a:rPr sz="1350" b="0" i="0">
                <a:solidFill>
                  <a:srgbClr val="1F2A37"/>
                </a:solidFill>
                <a:latin typeface="Calibri"/>
              </a:rPr>
              <a:t>• Cross-user/cluster sharing of benchmark run results</a:t>
            </a:r>
          </a:p>
          <a:p>
            <a:pPr algn="l" lvl="1">
              <a:spcAft>
                <a:spcPts val="300"/>
              </a:spcAft>
            </a:pPr>
            <a:r>
              <a:rPr sz="1350" b="0" i="0">
                <a:solidFill>
                  <a:srgbClr val="1F2A37"/>
                </a:solidFill>
                <a:latin typeface="Calibri"/>
              </a:rPr>
              <a:t>• Easy to configure in-cluster &amp; cross-cluster benchmark runs</a:t>
            </a:r>
          </a:p>
          <a:p>
            <a:pPr algn="l" lvl="1">
              <a:spcAft>
                <a:spcPts val="300"/>
              </a:spcAft>
            </a:pPr>
            <a:r>
              <a:rPr sz="1350" b="0" i="0">
                <a:solidFill>
                  <a:srgbClr val="1F2A37"/>
                </a:solidFill>
                <a:latin typeface="Calibri"/>
              </a:rPr>
              <a:t>• Asynchronous parallel benchmark runs</a:t>
            </a:r>
          </a:p>
          <a:p>
            <a:pPr algn="l" lvl="1">
              <a:spcAft>
                <a:spcPts val="300"/>
              </a:spcAft>
            </a:pPr>
            <a:r>
              <a:rPr sz="1350" b="0" i="0">
                <a:solidFill>
                  <a:srgbClr val="1F2A37"/>
                </a:solidFill>
                <a:latin typeface="Calibri"/>
              </a:rPr>
              <a:t>• Secure, scalable, auditable &amp; resilient</a:t>
            </a:r>
          </a:p>
          <a:p>
            <a:pPr algn="l">
              <a:spcAft>
                <a:spcPts val="300"/>
              </a:spcAft>
            </a:pPr>
            <a:r>
              <a:rPr sz="1400" b="1" i="0">
                <a:solidFill>
                  <a:srgbClr val="2E6FB5"/>
                </a:solidFill>
                <a:latin typeface="Calibri"/>
              </a:rPr>
              <a:t>3 benchmarks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gsm8k — single-turn: one prompt in, one answer out, no dialogue partner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tau2 — multi-turn: a server-side user simulator LLM plays the customer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appworld — long-horizon: many API calls across simulated apps</a:t>
            </a:r>
          </a:p>
          <a:p>
            <a:pPr algn="l">
              <a:spcAft>
                <a:spcPts val="300"/>
              </a:spcAft>
            </a:pPr>
            <a:r>
              <a:rPr sz="1400" b="1" i="0">
                <a:solidFill>
                  <a:srgbClr val="2E6FB5"/>
                </a:solidFill>
                <a:latin typeface="Calibri"/>
              </a:rPr>
              <a:t>Client contract</a:t>
            </a:r>
          </a:p>
          <a:p>
            <a:pPr algn="l" lvl="1">
              <a:spcAft>
                <a:spcPts val="300"/>
              </a:spcAft>
            </a:pPr>
            <a:r>
              <a:rPr sz="1350" b="0" i="0">
                <a:solidFill>
                  <a:srgbClr val="1F2A37"/>
                </a:solidFill>
                <a:latin typeface="Calibri"/>
              </a:rPr>
              <a:t>• Point at a hostname, send Authorization: Bearer &lt;caller JWT&gt; — same from kind to prod</a:t>
            </a:r>
          </a:p>
        </p:txBody>
      </p:sp>
      <p:sp>
        <p:nvSpPr>
          <p:cNvPr id="5" name="Rectangle 4"/>
          <p:cNvSpPr/>
          <p:nvPr/>
        </p:nvSpPr>
        <p:spPr>
          <a:xfrm>
            <a:off x="6035040" y="1143000"/>
            <a:ext cx="5715000" cy="502920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Key design decisions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1783080"/>
            <a:ext cx="571500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Pure-Python, HTTPS-only to Rossoctl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No shell-out: smaller image, no injection surface, structured errors, testable.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0" y="2423160"/>
            <a:ext cx="571500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Two-token auth model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Caller JWT attributes + routes only (never forwarded); Service mints its own benchmarker (ROPC) token to Rossoctl.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35040" y="3063240"/>
            <a:ext cx="571500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iss is the trust anchor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The JWT issuer selects the per-instance config — no separate instance argument, so no confused-deputy escape.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35040" y="3703320"/>
            <a:ext cx="571500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Per-request ROPC login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Fresh Service token every request — no expiry handling.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4343400"/>
            <a:ext cx="571500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iss-keyed per-instance config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One file per issuer: Rossoctl URL, benchmarker cred, MLflow/S3, optional Keycloak backchannel + workload route templates.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035040" y="4983480"/>
            <a:ext cx="571500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Enact only what the API allows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Deploy/run/report/export — now including AuthBridge plugin presets (layer-3). Only workload Secrets remain out-of-band: prechecked and reported (424), never silently ignored.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35040" y="5623560"/>
            <a:ext cx="571500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MLflow with Service; S3 in the cloud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MLflow is co-located with the Service (per-service traces it emits + reads), not in the workload cluster; S3 is an external cloud service — the shared cross-service sink.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2.  Architecture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Relations between client, service, cluster-specific Keycloak / Rossoctl / workload, MLflow &amp; S3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5760" y="1188720"/>
            <a:ext cx="2560320" cy="777240"/>
          </a:xfrm>
          <a:prstGeom prst="roundRect">
            <a:avLst/>
          </a:prstGeom>
          <a:solidFill>
            <a:srgbClr val="5B8C5A"/>
          </a:solidFill>
          <a:ln w="12700">
            <a:solidFill>
              <a:srgbClr val="5B8C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50" b="1" i="0">
                <a:solidFill>
                  <a:srgbClr val="FFFFFF"/>
                </a:solidFill>
                <a:latin typeface="Calibri"/>
              </a:rPr>
              <a:t>Benchmarking Client</a:t>
            </a:r>
          </a:p>
          <a:p>
            <a:pPr algn="ctr"/>
            <a:r>
              <a:rPr sz="1050" b="0" i="0">
                <a:solidFill>
                  <a:srgbClr val="E6F0E6"/>
                </a:solidFill>
                <a:latin typeface="Calibri"/>
              </a:rPr>
              <a:t>off-cluster (host / CI)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2240280"/>
            <a:ext cx="2560320" cy="1691640"/>
          </a:xfrm>
          <a:prstGeom prst="roundRect">
            <a:avLst/>
          </a:prstGeom>
          <a:solidFill>
            <a:srgbClr val="2E6FB5"/>
          </a:solidFill>
          <a:ln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1600" tIns="88900"/>
          <a:lstStyle/>
          <a:p>
            <a:pPr algn="ctr"/>
            <a:r>
              <a:rPr sz="1350" b="1" i="0">
                <a:solidFill>
                  <a:srgbClr val="FFFFFF"/>
                </a:solidFill>
                <a:latin typeface="Calibri"/>
              </a:rPr>
              <a:t>Benchmarking Service</a:t>
            </a:r>
          </a:p>
          <a:p>
            <a:pPr algn="l" lvl="1"/>
            <a:r>
              <a:rPr sz="1000" b="0" i="0">
                <a:solidFill>
                  <a:srgbClr val="FFFFFF"/>
                </a:solidFill>
                <a:latin typeface="Calibri"/>
              </a:rPr>
              <a:t>• pure-Python · async</a:t>
            </a:r>
          </a:p>
          <a:p>
            <a:pPr algn="l" lvl="1"/>
            <a:r>
              <a:rPr sz="1000" b="0" i="0">
                <a:solidFill>
                  <a:srgbClr val="FFFFFF"/>
                </a:solidFill>
                <a:latin typeface="Calibri"/>
              </a:rPr>
              <a:t>• iss-keyed InstanceRegistry</a:t>
            </a:r>
          </a:p>
          <a:p>
            <a:pPr algn="l" lvl="1"/>
            <a:r>
              <a:rPr sz="1000" b="0" i="0">
                <a:solidFill>
                  <a:srgbClr val="FFFFFF"/>
                </a:solidFill>
                <a:latin typeface="Calibri"/>
              </a:rPr>
              <a:t>• per-request ROPC login</a:t>
            </a:r>
          </a:p>
          <a:p>
            <a:pPr algn="l" lvl="1"/>
            <a:r>
              <a:rPr sz="1000" b="0" i="0">
                <a:solidFill>
                  <a:srgbClr val="FFFFFF"/>
                </a:solidFill>
                <a:latin typeface="Calibri"/>
              </a:rPr>
              <a:t>• deploy / run / report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4343400"/>
            <a:ext cx="1234440" cy="868680"/>
          </a:xfrm>
          <a:prstGeom prst="roundRect">
            <a:avLst/>
          </a:prstGeom>
          <a:solidFill>
            <a:srgbClr val="6B6B6B"/>
          </a:solidFill>
          <a:ln w="12700">
            <a:solidFill>
              <a:srgbClr val="E87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S3</a:t>
            </a:r>
          </a:p>
          <a:p>
            <a:pPr algn="ctr"/>
            <a:r>
              <a:rPr sz="1000" b="0" i="0">
                <a:solidFill>
                  <a:srgbClr val="EEEFF1"/>
                </a:solidFill>
                <a:latin typeface="Calibri"/>
              </a:rPr>
              <a:t>cloud (external)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691640" y="4343400"/>
            <a:ext cx="1234440" cy="868680"/>
          </a:xfrm>
          <a:prstGeom prst="roundRect">
            <a:avLst/>
          </a:prstGeom>
          <a:solidFill>
            <a:srgbClr val="6B6B6B"/>
          </a:solidFill>
          <a:ln w="12700"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MLflow</a:t>
            </a:r>
          </a:p>
          <a:p>
            <a:pPr algn="ctr"/>
            <a:r>
              <a:rPr sz="1000" b="0" i="0">
                <a:solidFill>
                  <a:srgbClr val="EEEFF1"/>
                </a:solidFill>
                <a:latin typeface="Calibri"/>
              </a:rPr>
              <a:t>same cluster as Service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849624" y="1243584"/>
            <a:ext cx="8001000" cy="3977639"/>
          </a:xfrm>
          <a:prstGeom prst="round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776472" y="1170432"/>
            <a:ext cx="8001000" cy="3977639"/>
          </a:xfrm>
          <a:prstGeom prst="roundRect">
            <a:avLst/>
          </a:prstGeom>
          <a:solidFill>
            <a:srgbClr val="E3E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703320" y="1097280"/>
            <a:ext cx="8001000" cy="3977639"/>
          </a:xfrm>
          <a:prstGeom prst="roundRect">
            <a:avLst/>
          </a:prstGeom>
          <a:solidFill>
            <a:srgbClr val="FBFCFD"/>
          </a:solidFill>
          <a:ln w="19050">
            <a:solidFill>
              <a:srgbClr val="1B3A5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0480" y="1170432"/>
            <a:ext cx="7680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B3A5C"/>
                </a:solidFill>
                <a:latin typeface="Calibri"/>
              </a:rPr>
              <a:t>Per-cluster instance — selected by JWT  iss   (ykt3 · kind · …)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977639" y="1783080"/>
            <a:ext cx="2331720" cy="914400"/>
          </a:xfrm>
          <a:prstGeom prst="roundRect">
            <a:avLst/>
          </a:prstGeom>
          <a:solidFill>
            <a:srgbClr val="B55A2E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Keycloak</a:t>
            </a:r>
          </a:p>
          <a:p>
            <a:pPr algn="ctr"/>
            <a:r>
              <a:rPr sz="1000" b="0" i="0">
                <a:solidFill>
                  <a:srgbClr val="FBEEE4"/>
                </a:solidFill>
                <a:latin typeface="Calibri"/>
              </a:rPr>
              <a:t>issuer + backchannel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977639" y="2926080"/>
            <a:ext cx="2331720" cy="1005840"/>
          </a:xfrm>
          <a:prstGeom prst="roundRect">
            <a:avLst/>
          </a:prstGeom>
          <a:solidFill>
            <a:srgbClr val="8E44AD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Rossoctl / Kagenti</a:t>
            </a:r>
          </a:p>
          <a:p>
            <a:pPr algn="ctr"/>
            <a:r>
              <a:rPr sz="1000" b="0" i="0">
                <a:solidFill>
                  <a:srgbClr val="F1E8F6"/>
                </a:solidFill>
                <a:latin typeface="Calibri"/>
              </a:rPr>
              <a:t>backend API (server-side ops)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366760" y="1783080"/>
            <a:ext cx="3154680" cy="2148840"/>
          </a:xfrm>
          <a:prstGeom prst="roundRect">
            <a:avLst/>
          </a:prstGeom>
          <a:solidFill>
            <a:srgbClr val="E4F0F0"/>
          </a:solidFill>
          <a:ln w="15875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58200" y="1847088"/>
            <a:ext cx="2971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3D6E70"/>
                </a:solidFill>
                <a:latin typeface="Calibri"/>
              </a:rPr>
              <a:t>Benchmark Workload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549640" y="2212848"/>
            <a:ext cx="2788920" cy="731520"/>
          </a:xfrm>
          <a:prstGeom prst="roundRect">
            <a:avLst/>
          </a:prstGeom>
          <a:solidFill>
            <a:srgbClr val="3D6E7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MCP tool</a:t>
            </a:r>
          </a:p>
          <a:p>
            <a:pPr algn="ctr"/>
            <a:r>
              <a:rPr sz="950" b="0" i="0">
                <a:solidFill>
                  <a:srgbClr val="E4F0F0"/>
                </a:solidFill>
                <a:latin typeface="Calibri"/>
              </a:rPr>
              <a:t>exgentic-mcp-&lt;benchmark&gt;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549640" y="3063240"/>
            <a:ext cx="2788920" cy="731520"/>
          </a:xfrm>
          <a:prstGeom prst="roundRect">
            <a:avLst/>
          </a:prstGeom>
          <a:solidFill>
            <a:srgbClr val="3D6E7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A2A agent</a:t>
            </a:r>
          </a:p>
          <a:p>
            <a:pPr algn="ctr"/>
            <a:r>
              <a:rPr sz="950" b="0" i="0">
                <a:solidFill>
                  <a:srgbClr val="E4F0F0"/>
                </a:solidFill>
                <a:latin typeface="Calibri"/>
              </a:rPr>
              <a:t>exgentic-a2a-tool_calling-&lt;b&gt;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23560" y="4315968"/>
            <a:ext cx="2468880" cy="640080"/>
          </a:xfrm>
          <a:prstGeom prst="roundRect">
            <a:avLst/>
          </a:prstGeom>
          <a:solidFill>
            <a:srgbClr val="3D6E7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OTEL collector</a:t>
            </a:r>
          </a:p>
          <a:p>
            <a:pPr algn="ctr"/>
            <a:r>
              <a:rPr sz="950" b="0" i="0">
                <a:solidFill>
                  <a:srgbClr val="E4F0F0"/>
                </a:solidFill>
                <a:latin typeface="Calibri"/>
              </a:rPr>
              <a:t>forwards agent spans → MLflow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926080" y="1554480"/>
            <a:ext cx="1051559" cy="502920"/>
          </a:xfrm>
          <a:prstGeom prst="line">
            <a:avLst/>
          </a:prstGeom>
          <a:ln w="25400">
            <a:solidFill>
              <a:srgbClr val="E87A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Oval 18"/>
          <p:cNvSpPr/>
          <p:nvPr/>
        </p:nvSpPr>
        <p:spPr>
          <a:xfrm>
            <a:off x="3282696" y="1664208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645920" y="1965960"/>
            <a:ext cx="0" cy="274320"/>
          </a:xfrm>
          <a:prstGeom prst="line">
            <a:avLst/>
          </a:prstGeom>
          <a:ln w="25400">
            <a:solidFill>
              <a:srgbClr val="E87A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1755647" y="1984248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cxnSp>
        <p:nvCxnSpPr>
          <p:cNvPr id="22" name="Connector 21"/>
          <p:cNvCxnSpPr/>
          <p:nvPr/>
        </p:nvCxnSpPr>
        <p:spPr>
          <a:xfrm flipV="1">
            <a:off x="2926080" y="2377440"/>
            <a:ext cx="1051559" cy="137160"/>
          </a:xfrm>
          <a:prstGeom prst="line">
            <a:avLst/>
          </a:prstGeom>
          <a:ln w="25400">
            <a:solidFill>
              <a:srgbClr val="E87A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Oval 22"/>
          <p:cNvSpPr/>
          <p:nvPr/>
        </p:nvSpPr>
        <p:spPr>
          <a:xfrm>
            <a:off x="3337560" y="2313432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2926080" y="3246120"/>
            <a:ext cx="1051559" cy="91440"/>
          </a:xfrm>
          <a:prstGeom prst="line">
            <a:avLst/>
          </a:prstGeom>
          <a:ln w="25400">
            <a:solidFill>
              <a:srgbClr val="E87A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Oval 24"/>
          <p:cNvSpPr/>
          <p:nvPr/>
        </p:nvSpPr>
        <p:spPr>
          <a:xfrm>
            <a:off x="3337560" y="3154680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cxnSp>
        <p:nvCxnSpPr>
          <p:cNvPr id="26" name="Connector 25"/>
          <p:cNvCxnSpPr/>
          <p:nvPr/>
        </p:nvCxnSpPr>
        <p:spPr>
          <a:xfrm flipV="1">
            <a:off x="6309360" y="2944368"/>
            <a:ext cx="2057400" cy="301752"/>
          </a:xfrm>
          <a:prstGeom prst="line">
            <a:avLst/>
          </a:prstGeom>
          <a:ln w="25400">
            <a:solidFill>
              <a:srgbClr val="8E44A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Oval 26"/>
          <p:cNvSpPr/>
          <p:nvPr/>
        </p:nvSpPr>
        <p:spPr>
          <a:xfrm>
            <a:off x="6784848" y="3040380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cxnSp>
        <p:nvCxnSpPr>
          <p:cNvPr id="28" name="Connector 27"/>
          <p:cNvCxnSpPr/>
          <p:nvPr/>
        </p:nvCxnSpPr>
        <p:spPr>
          <a:xfrm flipV="1">
            <a:off x="2926080" y="2807208"/>
            <a:ext cx="0" cy="896112"/>
          </a:xfrm>
          <a:prstGeom prst="line">
            <a:avLst/>
          </a:prstGeom>
          <a:ln w="25400">
            <a:solidFill>
              <a:srgbClr val="3D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2926080" y="2807208"/>
            <a:ext cx="3383280" cy="0"/>
          </a:xfrm>
          <a:prstGeom prst="line">
            <a:avLst/>
          </a:prstGeom>
          <a:ln w="25400">
            <a:solidFill>
              <a:srgbClr val="3D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6309360" y="2807208"/>
            <a:ext cx="2057400" cy="256032"/>
          </a:xfrm>
          <a:prstGeom prst="line">
            <a:avLst/>
          </a:prstGeom>
          <a:ln w="25400">
            <a:solidFill>
              <a:srgbClr val="3D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Oval 30"/>
          <p:cNvSpPr/>
          <p:nvPr/>
        </p:nvSpPr>
        <p:spPr>
          <a:xfrm>
            <a:off x="4498848" y="2688336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1965960" y="3931920"/>
            <a:ext cx="0" cy="411480"/>
          </a:xfrm>
          <a:prstGeom prst="line">
            <a:avLst/>
          </a:prstGeom>
          <a:ln w="25400">
            <a:solidFill>
              <a:srgbClr val="6B6B6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Oval 32"/>
          <p:cNvSpPr/>
          <p:nvPr/>
        </p:nvSpPr>
        <p:spPr>
          <a:xfrm>
            <a:off x="1847088" y="4014215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cxnSp>
        <p:nvCxnSpPr>
          <p:cNvPr id="34" name="Connector 33"/>
          <p:cNvCxnSpPr/>
          <p:nvPr/>
        </p:nvCxnSpPr>
        <p:spPr>
          <a:xfrm flipH="1">
            <a:off x="7955279" y="3794760"/>
            <a:ext cx="777241" cy="521208"/>
          </a:xfrm>
          <a:prstGeom prst="line">
            <a:avLst/>
          </a:prstGeom>
          <a:ln w="25400">
            <a:solidFill>
              <a:srgbClr val="3D6E70"/>
            </a:solidFill>
            <a:tailEnd type="triangle" w="med" len="med"/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Oval 34"/>
          <p:cNvSpPr/>
          <p:nvPr/>
        </p:nvSpPr>
        <p:spPr>
          <a:xfrm>
            <a:off x="8119872" y="3941064"/>
            <a:ext cx="310896" cy="310896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8a</a:t>
            </a:r>
          </a:p>
        </p:txBody>
      </p:sp>
      <p:cxnSp>
        <p:nvCxnSpPr>
          <p:cNvPr id="36" name="Connector 35"/>
          <p:cNvCxnSpPr/>
          <p:nvPr/>
        </p:nvCxnSpPr>
        <p:spPr>
          <a:xfrm flipH="1">
            <a:off x="2926080" y="4636008"/>
            <a:ext cx="2697480" cy="155448"/>
          </a:xfrm>
          <a:prstGeom prst="line">
            <a:avLst/>
          </a:prstGeom>
          <a:ln w="25400">
            <a:solidFill>
              <a:srgbClr val="6B6B6B"/>
            </a:solidFill>
            <a:tailEnd type="triangle" w="med" len="med"/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Oval 36"/>
          <p:cNvSpPr/>
          <p:nvPr/>
        </p:nvSpPr>
        <p:spPr>
          <a:xfrm>
            <a:off x="4096512" y="4558284"/>
            <a:ext cx="310896" cy="310896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8b</a:t>
            </a:r>
          </a:p>
        </p:txBody>
      </p:sp>
      <p:cxnSp>
        <p:nvCxnSpPr>
          <p:cNvPr id="38" name="Connector 37"/>
          <p:cNvCxnSpPr/>
          <p:nvPr/>
        </p:nvCxnSpPr>
        <p:spPr>
          <a:xfrm flipV="1">
            <a:off x="2651760" y="3931920"/>
            <a:ext cx="0" cy="411480"/>
          </a:xfrm>
          <a:prstGeom prst="line">
            <a:avLst/>
          </a:prstGeom>
          <a:ln w="25400">
            <a:solidFill>
              <a:srgbClr val="6B6B6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Oval 38"/>
          <p:cNvSpPr/>
          <p:nvPr/>
        </p:nvSpPr>
        <p:spPr>
          <a:xfrm>
            <a:off x="2532888" y="4014215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9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1005840" y="3931920"/>
            <a:ext cx="0" cy="411480"/>
          </a:xfrm>
          <a:prstGeom prst="line">
            <a:avLst/>
          </a:prstGeom>
          <a:ln w="25400">
            <a:solidFill>
              <a:srgbClr val="E87A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Oval 40"/>
          <p:cNvSpPr/>
          <p:nvPr/>
        </p:nvSpPr>
        <p:spPr>
          <a:xfrm>
            <a:off x="649224" y="3977639"/>
            <a:ext cx="310896" cy="310896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10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65760" y="5303520"/>
            <a:ext cx="11430000" cy="1234440"/>
          </a:xfrm>
          <a:prstGeom prst="roundRect">
            <a:avLst/>
          </a:prstGeom>
          <a:solidFill>
            <a:srgbClr val="F4F6F8"/>
          </a:solidFill>
          <a:ln>
            <a:solidFill>
              <a:srgbClr val="C7C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48640" y="5376672"/>
            <a:ext cx="5486400" cy="1115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1  Client logs in to Keycloak (ROPC) → caller JWT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2  Client → Service:  Authorization: Bearer &lt;caller JWT&gt;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3  Service validates JWT (JWKS) + mints its own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      benchmarker token (ROPC, via backchannel)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4  Service → Rossoctl: deploy / list agents + tools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5  Rossoctl creates the MCP tool + A2A agent in-cluster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126480" y="5376672"/>
            <a:ext cx="5486400" cy="1115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6  Service drives the MCP session + the A2A call itself;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      the agent only issues execute_tool inside that session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7  Service emits the Agent.Session trace → MLflow (first)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8a A2A agent → OTEL collector   ·   8b collector → MLflow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      (optional workload spans — off by default)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9  Service reads back Agent.Session traces (MLflow)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10  Service exports run.json / report.* (S3)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3.  Architecture with Workload Specific Components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Inside the Benchmark Workload — what every benchmark has, and what only some of them add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11480" y="1097280"/>
            <a:ext cx="11338560" cy="548640"/>
          </a:xfrm>
          <a:prstGeom prst="roundRect">
            <a:avLst/>
          </a:prstGeom>
          <a:solidFill>
            <a:srgbClr val="6B6B6B"/>
          </a:solidFill>
          <a:ln w="12700"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shared LLM gateway   ·   ete-litellm / litemaas   (external)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2148840"/>
            <a:ext cx="1920240" cy="685800"/>
          </a:xfrm>
          <a:prstGeom prst="roundRect">
            <a:avLst/>
          </a:prstGeom>
          <a:solidFill>
            <a:srgbClr val="B55A2E"/>
          </a:solidFill>
          <a:ln w="22225">
            <a:solidFill>
              <a:srgbClr val="FFFFF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50" b="1" i="0">
                <a:solidFill>
                  <a:srgbClr val="FFFFFF"/>
                </a:solidFill>
                <a:latin typeface="Calibri"/>
              </a:rPr>
              <a:t>IBAC judge</a:t>
            </a:r>
          </a:p>
          <a:p>
            <a:pPr algn="ctr"/>
            <a:r>
              <a:rPr sz="850" b="0" i="0">
                <a:solidFill>
                  <a:srgbClr val="FBEEE4"/>
                </a:solidFill>
                <a:latin typeface="Calibri"/>
              </a:rPr>
              <a:t>an LLM call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3063240"/>
            <a:ext cx="1920240" cy="777240"/>
          </a:xfrm>
          <a:prstGeom prst="roundRect">
            <a:avLst/>
          </a:prstGeom>
          <a:solidFill>
            <a:srgbClr val="2E6FB5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Benchmarking Service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487168" y="1783080"/>
            <a:ext cx="9262872" cy="3017520"/>
          </a:xfrm>
          <a:prstGeom prst="roundRect">
            <a:avLst/>
          </a:prstGeom>
          <a:solidFill>
            <a:srgbClr val="FBFCFD"/>
          </a:solidFill>
          <a:ln w="19050">
            <a:solidFill>
              <a:srgbClr val="1B3A5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651760" y="4553712"/>
            <a:ext cx="88696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1B3A5C"/>
                </a:solidFill>
                <a:latin typeface="Calibri"/>
              </a:rPr>
              <a:t>Benchmark Workload — one per benchmark, namespace team1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0" y="2103120"/>
            <a:ext cx="4160520" cy="2194560"/>
          </a:xfrm>
          <a:prstGeom prst="roundRect">
            <a:avLst/>
          </a:prstGeom>
          <a:solidFill>
            <a:srgbClr val="E4F0F0"/>
          </a:solidFill>
          <a:ln w="15875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52928" y="2121408"/>
            <a:ext cx="393192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3D6E70"/>
                </a:solidFill>
                <a:latin typeface="Calibri"/>
              </a:rPr>
              <a:t>A2A agent pod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852928" y="2359152"/>
            <a:ext cx="3941063" cy="731520"/>
          </a:xfrm>
          <a:prstGeom prst="roundRect">
            <a:avLst/>
          </a:prstGeom>
          <a:solidFill>
            <a:srgbClr val="3D6E7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agent container</a:t>
            </a:r>
          </a:p>
          <a:p>
            <a:pPr algn="ctr"/>
            <a:r>
              <a:rPr sz="900" b="0" i="0">
                <a:solidFill>
                  <a:srgbClr val="E4F0F0"/>
                </a:solidFill>
                <a:latin typeface="Calibri"/>
              </a:rPr>
              <a:t>exgentic-a2a-tool_calling-&lt;b&gt;  ·  the LLM loop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52928" y="3383280"/>
            <a:ext cx="3941063" cy="731520"/>
          </a:xfrm>
          <a:prstGeom prst="roundRect">
            <a:avLst/>
          </a:prstGeom>
          <a:solidFill>
            <a:srgbClr val="8E44AD"/>
          </a:solidFill>
          <a:ln w="22225">
            <a:solidFill>
              <a:srgbClr val="FFFFF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AuthBridge sidecar</a:t>
            </a:r>
          </a:p>
          <a:p>
            <a:pPr algn="ctr"/>
            <a:r>
              <a:rPr sz="900" b="0" i="0">
                <a:solidFill>
                  <a:srgbClr val="F1E8F6"/>
                </a:solidFill>
                <a:latin typeface="Calibri"/>
              </a:rPr>
              <a:t>proxy  ·  only with --plugin-preset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98079" y="2103120"/>
            <a:ext cx="4114800" cy="2194560"/>
          </a:xfrm>
          <a:prstGeom prst="roundRect">
            <a:avLst/>
          </a:prstGeom>
          <a:solidFill>
            <a:srgbClr val="E4F0F0"/>
          </a:solidFill>
          <a:ln w="15875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07808" y="2121408"/>
            <a:ext cx="384048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3D6E70"/>
                </a:solidFill>
                <a:latin typeface="Calibri"/>
              </a:rPr>
              <a:t>MCP tool pod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607808" y="2359152"/>
            <a:ext cx="3895344" cy="731520"/>
          </a:xfrm>
          <a:prstGeom prst="roundRect">
            <a:avLst/>
          </a:prstGeom>
          <a:solidFill>
            <a:srgbClr val="3D6E70"/>
          </a:solidFill>
          <a:ln w="22225">
            <a:solidFill>
              <a:srgbClr val="FFFFF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user simulator LLM</a:t>
            </a:r>
          </a:p>
          <a:p>
            <a:pPr algn="ctr"/>
            <a:r>
              <a:rPr sz="900" b="0" i="0">
                <a:solidFill>
                  <a:srgbClr val="E4F0F0"/>
                </a:solidFill>
                <a:latin typeface="Calibri"/>
              </a:rPr>
              <a:t>tau2 only  ·  plays the customer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607808" y="3383280"/>
            <a:ext cx="3895344" cy="731520"/>
          </a:xfrm>
          <a:prstGeom prst="roundRect">
            <a:avLst/>
          </a:prstGeom>
          <a:solidFill>
            <a:srgbClr val="3D6E7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MCP server</a:t>
            </a:r>
          </a:p>
          <a:p>
            <a:pPr algn="ctr"/>
            <a:r>
              <a:rPr sz="900" b="0" i="0">
                <a:solidFill>
                  <a:srgbClr val="E4F0F0"/>
                </a:solidFill>
                <a:latin typeface="Calibri"/>
              </a:rPr>
              <a:t>exgentic-mcp-&lt;benchmark&gt;  ·  tasks + evaluation</a:t>
            </a:r>
          </a:p>
        </p:txBody>
      </p:sp>
      <p:cxnSp>
        <p:nvCxnSpPr>
          <p:cNvPr id="16" name="Connector 15"/>
          <p:cNvCxnSpPr/>
          <p:nvPr/>
        </p:nvCxnSpPr>
        <p:spPr>
          <a:xfrm flipV="1">
            <a:off x="2331720" y="2852928"/>
            <a:ext cx="521208" cy="274320"/>
          </a:xfrm>
          <a:prstGeom prst="line">
            <a:avLst/>
          </a:prstGeom>
          <a:ln w="25400">
            <a:solidFill>
              <a:srgbClr val="2E6FB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2478024" y="2871216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14016" y="3840480"/>
            <a:ext cx="0" cy="566928"/>
          </a:xfrm>
          <a:prstGeom prst="line">
            <a:avLst/>
          </a:prstGeom>
          <a:ln w="25400">
            <a:solidFill>
              <a:srgbClr val="2E6FB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2414016" y="4407408"/>
            <a:ext cx="5907024" cy="0"/>
          </a:xfrm>
          <a:prstGeom prst="line">
            <a:avLst/>
          </a:prstGeom>
          <a:ln w="25400">
            <a:solidFill>
              <a:srgbClr val="2E6FB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8321040" y="4114800"/>
            <a:ext cx="0" cy="292608"/>
          </a:xfrm>
          <a:prstGeom prst="line">
            <a:avLst/>
          </a:prstGeom>
          <a:ln w="25400">
            <a:solidFill>
              <a:srgbClr val="2E6FB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5367528" y="4288536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cxnSp>
        <p:nvCxnSpPr>
          <p:cNvPr id="22" name="Connector 21"/>
          <p:cNvCxnSpPr/>
          <p:nvPr/>
        </p:nvCxnSpPr>
        <p:spPr>
          <a:xfrm flipV="1">
            <a:off x="4800600" y="1645920"/>
            <a:ext cx="0" cy="713232"/>
          </a:xfrm>
          <a:prstGeom prst="line">
            <a:avLst/>
          </a:prstGeom>
          <a:ln w="25400">
            <a:solidFill>
              <a:srgbClr val="E87A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Oval 22"/>
          <p:cNvSpPr/>
          <p:nvPr/>
        </p:nvSpPr>
        <p:spPr>
          <a:xfrm>
            <a:off x="4681728" y="1828800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cxnSp>
        <p:nvCxnSpPr>
          <p:cNvPr id="24" name="Connector 23"/>
          <p:cNvCxnSpPr/>
          <p:nvPr/>
        </p:nvCxnSpPr>
        <p:spPr>
          <a:xfrm flipV="1">
            <a:off x="9555480" y="1645920"/>
            <a:ext cx="0" cy="713232"/>
          </a:xfrm>
          <a:prstGeom prst="line">
            <a:avLst/>
          </a:prstGeom>
          <a:ln w="25400">
            <a:solidFill>
              <a:srgbClr val="E87A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Oval 24"/>
          <p:cNvSpPr/>
          <p:nvPr/>
        </p:nvSpPr>
        <p:spPr>
          <a:xfrm>
            <a:off x="9436608" y="1828800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4800600" y="3090672"/>
            <a:ext cx="0" cy="292608"/>
          </a:xfrm>
          <a:prstGeom prst="line">
            <a:avLst/>
          </a:prstGeom>
          <a:ln w="25400">
            <a:solidFill>
              <a:srgbClr val="8E44A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Oval 26"/>
          <p:cNvSpPr/>
          <p:nvPr/>
        </p:nvSpPr>
        <p:spPr>
          <a:xfrm>
            <a:off x="5020056" y="3118104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6793992" y="3749039"/>
            <a:ext cx="813816" cy="0"/>
          </a:xfrm>
          <a:prstGeom prst="line">
            <a:avLst/>
          </a:prstGeom>
          <a:ln w="25400">
            <a:solidFill>
              <a:srgbClr val="8E44A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Oval 28"/>
          <p:cNvSpPr/>
          <p:nvPr/>
        </p:nvSpPr>
        <p:spPr>
          <a:xfrm>
            <a:off x="7086600" y="3630167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cxnSp>
        <p:nvCxnSpPr>
          <p:cNvPr id="30" name="Connector 29"/>
          <p:cNvCxnSpPr/>
          <p:nvPr/>
        </p:nvCxnSpPr>
        <p:spPr>
          <a:xfrm flipH="1" flipV="1">
            <a:off x="2331720" y="2697480"/>
            <a:ext cx="521208" cy="914400"/>
          </a:xfrm>
          <a:prstGeom prst="line">
            <a:avLst/>
          </a:prstGeom>
          <a:ln w="25400">
            <a:solidFill>
              <a:srgbClr val="B55A2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Oval 30"/>
          <p:cNvSpPr/>
          <p:nvPr/>
        </p:nvSpPr>
        <p:spPr>
          <a:xfrm>
            <a:off x="2578608" y="3200400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cxnSp>
        <p:nvCxnSpPr>
          <p:cNvPr id="32" name="Connector 31"/>
          <p:cNvCxnSpPr/>
          <p:nvPr/>
        </p:nvCxnSpPr>
        <p:spPr>
          <a:xfrm flipV="1">
            <a:off x="1371600" y="1645920"/>
            <a:ext cx="0" cy="502920"/>
          </a:xfrm>
          <a:prstGeom prst="line">
            <a:avLst/>
          </a:prstGeom>
          <a:ln w="25400">
            <a:solidFill>
              <a:srgbClr val="B55A2E"/>
            </a:solidFill>
            <a:tailEnd type="triangle" w="med" len="med"/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Oval 32"/>
          <p:cNvSpPr/>
          <p:nvPr/>
        </p:nvSpPr>
        <p:spPr>
          <a:xfrm>
            <a:off x="1252728" y="1783080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11480" y="4937760"/>
            <a:ext cx="6720840" cy="1719072"/>
          </a:xfrm>
          <a:prstGeom prst="roundRect">
            <a:avLst/>
          </a:prstGeom>
          <a:solidFill>
            <a:srgbClr val="F4F6F8"/>
          </a:solidFill>
          <a:ln>
            <a:solidFill>
              <a:srgbClr val="C7C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66928" y="4992624"/>
            <a:ext cx="6400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1B3A5C"/>
                </a:solidFill>
                <a:latin typeface="Calibri"/>
              </a:rPr>
              <a:t>Which components a benchmark actually gets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928" y="5303520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B3A5C"/>
                </a:solidFill>
                <a:latin typeface="Calibri"/>
              </a:rPr>
              <a:t>benchmark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645920" y="5303520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B3A5C"/>
                </a:solidFill>
                <a:latin typeface="Calibri"/>
              </a:rPr>
              <a:t>MCP tool image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977639" y="5303520"/>
            <a:ext cx="19659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B3A5C"/>
                </a:solidFill>
                <a:latin typeface="Calibri"/>
              </a:rPr>
              <a:t>LLMs per task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989320" y="5303520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B3A5C"/>
                </a:solidFill>
                <a:latin typeface="Calibri"/>
              </a:rPr>
              <a:t>tool calls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66928" y="5550408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gsm8k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645920" y="555040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exgentic-mcp-gsm8k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977639" y="5550408"/>
            <a:ext cx="19659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1  (agent)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989320" y="5550408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~1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66928" y="5797296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tau2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645920" y="5797296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exgentic-mcp-tau2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977639" y="5797296"/>
            <a:ext cx="19659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2  (+ user simulator)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989320" y="5797296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~11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66928" y="6044184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appworld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645920" y="6044184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exgentic-mcp-appworld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977639" y="6044184"/>
            <a:ext cx="19659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1  (agent)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989320" y="6044184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~13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66928" y="6291072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+ any preset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645920" y="6291072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unchanged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977639" y="6291072"/>
            <a:ext cx="19659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+1 IBAC judge call per action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989320" y="6291072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—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7360920" y="4937760"/>
            <a:ext cx="4389120" cy="1719072"/>
          </a:xfrm>
          <a:prstGeom prst="roundRect">
            <a:avLst/>
          </a:prstGeom>
          <a:solidFill>
            <a:srgbClr val="F4F6F8"/>
          </a:solidFill>
          <a:ln>
            <a:solidFill>
              <a:srgbClr val="C7C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516368" y="4992624"/>
            <a:ext cx="4114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1  Service → agent:  send_prompt, once per task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2  Service → MCP server:  list_tasks, create_session,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      evaluate_session, delete_session  (the verdict)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3  agent → gateway:  1 probe + N real chat calls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4  tau2 only:  the user simulator is a 2nd LLM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5  with a preset:  the agent's MCP calls go via the sidecar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6  sidecar → MCP server, once authorized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7  sidecar → judge, per isAction call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8  the judge is itself an LLM call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Dashed outline = present only in some configurations.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No preset: 5 + 6 become one direct agent → MCP call.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4.  The Two-Token Auth Model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Why the caller's token is never forwarded upstream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80160"/>
            <a:ext cx="5394960" cy="457200"/>
          </a:xfrm>
          <a:prstGeom prst="rect">
            <a:avLst/>
          </a:prstGeom>
          <a:solidFill>
            <a:srgbClr val="5B8C5A"/>
          </a:solidFill>
          <a:ln w="12700">
            <a:solidFill>
              <a:srgbClr val="5B8C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Caller JWT  (inbound)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5303520" cy="3291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0" i="0">
                <a:solidFill>
                  <a:srgbClr val="1F2A37"/>
                </a:solidFill>
                <a:latin typeface="Calibri"/>
              </a:rPr>
              <a:t>Presented by the client as Authorization: Bearer.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Used ONLY to attribute (preferred_username) and route (iss → instance)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Signature validated via the issuer's JWKS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aud / exp deliberately lenient in the dev/ops context</a:t>
            </a:r>
          </a:p>
          <a:p>
            <a:pPr algn="l" lvl="1">
              <a:spcAft>
                <a:spcPts val="300"/>
              </a:spcAft>
            </a:pPr>
            <a:r>
              <a:rPr sz="1300" b="1" i="0">
                <a:solidFill>
                  <a:srgbClr val="B55A2E"/>
                </a:solidFill>
                <a:latin typeface="Calibri"/>
              </a:rPr>
              <a:t>• NEVER forwarded to Rossoctl</a:t>
            </a:r>
          </a:p>
          <a:p>
            <a:pPr algn="l">
              <a:spcAft>
                <a:spcPts val="300"/>
              </a:spcAft>
            </a:pPr>
            <a:r>
              <a:rPr sz="1350" b="1" i="0">
                <a:solidFill>
                  <a:srgbClr val="5B8C5A"/>
                </a:solidFill>
                <a:latin typeface="Calibri"/>
              </a:rPr>
              <a:t>benchmarker is special: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A caller JWT with preferred_username == benchmarker authorizes config ops (GET/PUT /config)</a:t>
            </a:r>
          </a:p>
        </p:txBody>
      </p:sp>
      <p:sp>
        <p:nvSpPr>
          <p:cNvPr id="5" name="Rectangle 4"/>
          <p:cNvSpPr/>
          <p:nvPr/>
        </p:nvSpPr>
        <p:spPr>
          <a:xfrm>
            <a:off x="6309360" y="1280160"/>
            <a:ext cx="5394960" cy="457200"/>
          </a:xfrm>
          <a:prstGeom prst="rect">
            <a:avLst/>
          </a:prstGeom>
          <a:solidFill>
            <a:srgbClr val="2E6FB5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Service token  (outbound)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828800"/>
            <a:ext cx="5303520" cy="3291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0" i="0">
                <a:solidFill>
                  <a:srgbClr val="1F2A37"/>
                </a:solidFill>
                <a:latin typeface="Calibri"/>
              </a:rPr>
              <a:t>Minted by the Service per request via ROPC (password grant) using the instance's benchmarker credential.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Always fresh → no expiry handling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Presented to Rossoctl for all cluster-facing ops</a:t>
            </a:r>
          </a:p>
          <a:p>
            <a:pPr algn="l" lvl="1">
              <a:spcAft>
                <a:spcPts val="300"/>
              </a:spcAft>
            </a:pPr>
            <a:r>
              <a:rPr sz="1300" b="1" i="0">
                <a:solidFill>
                  <a:srgbClr val="2E6FB5"/>
                </a:solidFill>
                <a:latin typeface="Calibri"/>
              </a:rPr>
              <a:t>• The Service acts under its OWN identity, not the caller's</a:t>
            </a:r>
          </a:p>
          <a:p>
            <a:pPr algn="l">
              <a:spcAft>
                <a:spcPts val="300"/>
              </a:spcAft>
            </a:pPr>
            <a:r>
              <a:rPr sz="1350" b="1" i="0">
                <a:solidFill>
                  <a:srgbClr val="2E6FB5"/>
                </a:solidFill>
                <a:latin typeface="Calibri"/>
              </a:rPr>
              <a:t>Backchannel split (iss ≠ dialed host):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When the iss host is unreachable (in-cluster kind), JWKS + token come from a configured backchannel URL; iss is matched, never dialed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463040" y="5212080"/>
            <a:ext cx="9235440" cy="1005840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50" b="1" i="0">
                <a:solidFill>
                  <a:srgbClr val="1F2A37"/>
                </a:solidFill>
                <a:latin typeface="Calibri"/>
              </a:rPr>
              <a:t>Implication:  at the Rossoctl / cluster layer every action appears as the Service's identity — so per-user attribution &amp; audit live in the Service, keyed on (iss, preferred_username).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5.  Benchmark Catalog &amp; Run Lifecycle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43000"/>
            <a:ext cx="5257800" cy="457200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Catalog (static registry)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1783080"/>
            <a:ext cx="5257800" cy="914400"/>
          </a:xfrm>
          <a:prstGeom prst="roundRect">
            <a:avLst/>
          </a:prstGeom>
          <a:solidFill>
            <a:srgbClr val="E4F0F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27000"/>
          <a:lstStyle/>
          <a:p>
            <a:pPr algn="l"/>
            <a:r>
              <a:rPr sz="1500" b="1" i="0">
                <a:solidFill>
                  <a:srgbClr val="3D6E70"/>
                </a:solidFill>
                <a:latin typeface="Calibri"/>
              </a:rPr>
              <a:t>gsm8k</a:t>
            </a:r>
          </a:p>
          <a:p>
            <a:pPr algn="l"/>
            <a:r>
              <a:rPr sz="1150" b="0" i="0">
                <a:solidFill>
                  <a:srgbClr val="1F2A37"/>
                </a:solidFill>
                <a:latin typeface="Calibri"/>
              </a:rPr>
              <a:t>single-turn · needs hf-secret + openai-secret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2834640"/>
            <a:ext cx="5257800" cy="914400"/>
          </a:xfrm>
          <a:prstGeom prst="roundRect">
            <a:avLst/>
          </a:prstGeom>
          <a:solidFill>
            <a:srgbClr val="F1E8F6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27000"/>
          <a:lstStyle/>
          <a:p>
            <a:pPr algn="l"/>
            <a:r>
              <a:rPr sz="1500" b="1" i="0">
                <a:solidFill>
                  <a:srgbClr val="8E44AD"/>
                </a:solidFill>
                <a:latin typeface="Calibri"/>
              </a:rPr>
              <a:t>tau2</a:t>
            </a:r>
          </a:p>
          <a:p>
            <a:pPr algn="l"/>
            <a:r>
              <a:rPr sz="1150" b="0" i="0">
                <a:solidFill>
                  <a:srgbClr val="1F2A37"/>
                </a:solidFill>
                <a:latin typeface="Calibri"/>
              </a:rPr>
              <a:t>multi-turn · user-simulator LLM runs server-side in the MCP pod · raise timeout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3886200"/>
            <a:ext cx="5257800" cy="914400"/>
          </a:xfrm>
          <a:prstGeom prst="roundRect">
            <a:avLst/>
          </a:prstGeom>
          <a:solidFill>
            <a:srgbClr val="FBEEE4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27000"/>
          <a:lstStyle/>
          <a:p>
            <a:pPr algn="l"/>
            <a:r>
              <a:rPr sz="1500" b="1" i="0">
                <a:solidFill>
                  <a:srgbClr val="B55A2E"/>
                </a:solidFill>
                <a:latin typeface="Calibri"/>
              </a:rPr>
              <a:t>appworld</a:t>
            </a:r>
          </a:p>
          <a:p>
            <a:pPr algn="l"/>
            <a:r>
              <a:rPr sz="1150" b="0" i="0">
                <a:solidFill>
                  <a:srgbClr val="1F2A37"/>
                </a:solidFill>
                <a:latin typeface="Calibri"/>
              </a:rPr>
              <a:t>long-horizon across simulated apps · runs e2e · raise task_timeout_seconds</a:t>
            </a:r>
          </a:p>
        </p:txBody>
      </p:sp>
      <p:sp>
        <p:nvSpPr>
          <p:cNvPr id="7" name="Rectangle 6"/>
          <p:cNvSpPr/>
          <p:nvPr/>
        </p:nvSpPr>
        <p:spPr>
          <a:xfrm>
            <a:off x="5989320" y="1143000"/>
            <a:ext cx="5760720" cy="457200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Lifecycle (REST)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783080"/>
            <a:ext cx="544068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POST /benchmarks/{n}/deploy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create MCP tool + A2A agent → 201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172200" y="2084832"/>
            <a:ext cx="137160" cy="640080"/>
          </a:xfrm>
          <a:prstGeom prst="line">
            <a:avLst/>
          </a:prstGeom>
          <a:ln w="12700">
            <a:solidFill>
              <a:srgbClr val="C7CE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309360" y="2468880"/>
            <a:ext cx="544068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GET /benchmarks/{n}/status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poll until tool_ready &amp; agent_ready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172200" y="2770632"/>
            <a:ext cx="137160" cy="640080"/>
          </a:xfrm>
          <a:prstGeom prst="line">
            <a:avLst/>
          </a:prstGeom>
          <a:ln w="12700">
            <a:solidFill>
              <a:srgbClr val="C7CE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6309360" y="3154680"/>
            <a:ext cx="544068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POST /benchmarks/{n}/runs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precheck → 202 run_id  (409 not deployed · 424 secret missing)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172200" y="3456432"/>
            <a:ext cx="137160" cy="640080"/>
          </a:xfrm>
          <a:prstGeom prst="line">
            <a:avLst/>
          </a:prstGeom>
          <a:ln w="12700">
            <a:solidFill>
              <a:srgbClr val="C7CE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6309360" y="3840480"/>
            <a:ext cx="544068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GET …/runs/{id}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poll pending → running → succeeded / failed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172200" y="4142232"/>
            <a:ext cx="137160" cy="640080"/>
          </a:xfrm>
          <a:prstGeom prst="line">
            <a:avLst/>
          </a:prstGeom>
          <a:ln w="12700">
            <a:solidFill>
              <a:srgbClr val="C7CE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6309360" y="4526280"/>
            <a:ext cx="544068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GET …/runs/{id}/report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MLflow records + artifacts  (409 if MLflow unset)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172200" y="4828032"/>
            <a:ext cx="137160" cy="640080"/>
          </a:xfrm>
          <a:prstGeom prst="line">
            <a:avLst/>
          </a:prstGeom>
          <a:ln w="12700">
            <a:solidFill>
              <a:srgbClr val="C7CE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6309360" y="5212080"/>
            <a:ext cx="544068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download from S3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run.json · report.* · token_report.* · span_report.* · manifest.json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144768" y="1920240"/>
            <a:ext cx="0" cy="3931920"/>
          </a:xfrm>
          <a:prstGeom prst="line">
            <a:avLst/>
          </a:prstGeom>
          <a:ln w="19050">
            <a:solidFill>
              <a:srgbClr val="E87A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6.1  The Three Benchmarks — a Difficulty Ladder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Not interchangeable suites: each costs ~an order of magnitude more than the last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1188720"/>
          <a:ext cx="11338560" cy="3977639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286000"/>
                <a:gridCol w="3017520"/>
                <a:gridCol w="3017520"/>
                <a:gridCol w="3017520"/>
              </a:tblGrid>
              <a:tr h="331469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tau2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appworld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</a:tr>
              <a:tr h="331469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What it tests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multi-step arithmetic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multi-turn dialogue + tools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long-horizon app automation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331469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Tasks measured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172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60 (50 clean)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40 (35 clean)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331469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Pass rate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0.98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0.83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0.00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331469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Input tokens / task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343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82,966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210,792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331469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Output tokens / task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205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1,955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21,499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331469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LLM calls / task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2.1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11.4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23.6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331469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Tool calls / task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1.1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11.2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13.4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331469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Median task latency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5.3 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92 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232 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331469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Slowest task seen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62 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425 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581 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331469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Model we use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gpt-5-mini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claude-sonnet-5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gemini-2.5-pro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33148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Task pool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8.5K (HuggingFace)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114 (retail domain)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grouped scenarios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411480" y="5532120"/>
            <a:ext cx="11338560" cy="868680"/>
          </a:xfrm>
          <a:prstGeom prst="roundRect">
            <a:avLst/>
          </a:prstGeom>
          <a:solidFill>
            <a:srgbClr val="EEEFF1"/>
          </a:solidFill>
          <a:ln w="12700"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228600" rIns="228600"/>
          <a:lstStyle/>
          <a:p>
            <a:pPr algn="ctr"/>
            <a:r>
              <a:rPr sz="1250" b="1" i="0">
                <a:solidFill>
                  <a:srgbClr val="1F2A37"/>
                </a:solidFill>
                <a:latin typeface="Calibri"/>
              </a:rPr>
              <a:t>The scale gap is the headline: a tau2 task costs ~240x the input tokens of a gsm8k task, an appworld task ~615x. A 50-task gsm8k run is minutes; a 20-task appworld run is half an hour and millions of tokens. Budget by benchmark, not by task count.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6.2  What Each Benchmark Stresses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Why all three are in the matrix, and what a result from each does and does not tell you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11480" y="1188720"/>
            <a:ext cx="3703320" cy="566928"/>
          </a:xfrm>
          <a:prstGeom prst="roundRect">
            <a:avLst/>
          </a:prstGeom>
          <a:solidFill>
            <a:srgbClr val="3D6E7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gsm8k  —  the canary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1847088"/>
            <a:ext cx="3703320" cy="3154680"/>
          </a:xfrm>
          <a:prstGeom prst="roundRect">
            <a:avLst/>
          </a:prstGeom>
          <a:solidFill>
            <a:srgbClr val="E4F0F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27000" tIns="381000"/>
          <a:lstStyle/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One prompt in, one answer out — no dialogue partner.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~1 real LLM call + 1 tool call: the simplest agentic loop.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Stresses almost nothing about the platform — which is the point.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A failure here means INFRASTRUCTURE: deploy, auth, LLM reach, telemetry.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Saturated at ~1.0, so it cannot discriminate models. Never read it as one.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Deterministic enough that task 0 costs 320 input tokens on every cluster — we use that to prove two environments are comparable.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188720"/>
            <a:ext cx="3611880" cy="566928"/>
          </a:xfrm>
          <a:prstGeom prst="roundRect">
            <a:avLst/>
          </a:prstGeom>
          <a:solidFill>
            <a:srgbClr val="3D6E7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gsm8k — the canary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70248" y="1188720"/>
            <a:ext cx="3703320" cy="566928"/>
          </a:xfrm>
          <a:prstGeom prst="roundRect">
            <a:avLst/>
          </a:prstGeom>
          <a:solidFill>
            <a:srgbClr val="8E44AD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tau2  —  the discriminator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70248" y="1847088"/>
            <a:ext cx="3703320" cy="3154680"/>
          </a:xfrm>
          <a:prstGeom prst="roundRect">
            <a:avLst/>
          </a:prstGeom>
          <a:solidFill>
            <a:srgbClr val="F1E8F6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27000" tIns="381000"/>
          <a:lstStyle/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Multi-turn: a server-side USER SIMULATOR LLM plays the customer.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Two models talk to each other, plus ~11 tool calls per task.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Domain is retail (114 tasks) — the library default, never recorded in artifacts.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The only leg where model choice dominates: 0.1 with gpt-5-mini vs 0.9 with claude-sonnet-5 on the SAME 10 tasks.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Episodes are nondeterministic: across 6 samples of the same 10 tasks, 4 flip.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At n=10 one task moves pass_rate by 0.10 — it cannot resolve less than that.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70248" y="1188720"/>
            <a:ext cx="3611880" cy="566928"/>
          </a:xfrm>
          <a:prstGeom prst="roundRect">
            <a:avLst/>
          </a:prstGeom>
          <a:solidFill>
            <a:srgbClr val="8E44AD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tau2 — the discriminator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29016" y="1188720"/>
            <a:ext cx="3703320" cy="566928"/>
          </a:xfrm>
          <a:prstGeom prst="roundRect">
            <a:avLst/>
          </a:prstGeom>
          <a:solidFill>
            <a:srgbClr val="B55A2E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appworld  —  the stress test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29016" y="1847088"/>
            <a:ext cx="3703320" cy="3154680"/>
          </a:xfrm>
          <a:prstGeom prst="roundRect">
            <a:avLst/>
          </a:prstGeom>
          <a:solidFill>
            <a:srgbClr val="FBEEE4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27000" tIns="381000"/>
          <a:lstStyle/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Realistic chores across simulated apps: discover APIs, chain many calls.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~24 LLM calls, ~13 tool calls, ~211k input, ~4 min per task.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Evaluation is PROGRAMMATIC unit tests over final app state — no LLM judge.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Pass rate 0.0 is honest, not broken: runs complete and tokens record — the agent just does not finish the job.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~94% of tasks call finish: it believes it is done and the assertions disagree. No verification pass.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Its job here is pipeline stress: long contexts, big traces, real timeouts.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29016" y="1188720"/>
            <a:ext cx="3611880" cy="566928"/>
          </a:xfrm>
          <a:prstGeom prst="roundRect">
            <a:avLst/>
          </a:prstGeom>
          <a:solidFill>
            <a:srgbClr val="B55A2E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appworld — the stress test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411480" y="5212080"/>
          <a:ext cx="11338560" cy="13258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6766560"/>
                <a:gridCol w="4572000"/>
              </a:tblGrid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If you want to …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use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check a cluster / deploy / auth / telemetry path works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gsm8k, 1–10 tasks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exercise concurrency and volume cheaply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gsm8k, 50 tasks at max_parallel_sessions=4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compare models meaningfully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tau2 — it discriminates; gsm8k saturates at ~1.0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stress long contexts, long tasks, timeouts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appworld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6.3  Reading the Numbers — Five Things That Mislead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Every one of these cost us a wrong conclusion first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11480" y="1207008"/>
            <a:ext cx="11338560" cy="914400"/>
          </a:xfrm>
          <a:prstGeom prst="roundRect">
            <a:avLst/>
          </a:prstGeom>
          <a:solidFill>
            <a:srgbClr val="FBEEE4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76200" bIns="25400" lIns="177800" rIns="177800"/>
          <a:lstStyle/>
          <a:p>
            <a:pPr algn="l"/>
            <a:r>
              <a:rPr sz="1300" b="1" i="0">
                <a:solidFill>
                  <a:srgbClr val="1F2A37"/>
                </a:solidFill>
                <a:latin typeface="Calibri"/>
              </a:rPr>
              <a:t>1.  pass_rate = evaluated_pass / total</a:t>
            </a:r>
          </a:p>
          <a:p>
            <a:pPr algn="l"/>
            <a:r>
              <a:rPr sz="1100" b="0" i="0">
                <a:solidFill>
                  <a:srgbClr val="3A4654"/>
                </a:solidFill>
                <a:latin typeface="Calibri"/>
              </a:rPr>
              <a:t>A task that ERRORS before evaluation counts as not passed, so a low rate can mean “failed the task” or “never got judged”. Check the error column too.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2267712"/>
            <a:ext cx="11338560" cy="914400"/>
          </a:xfrm>
          <a:prstGeom prst="roundRect">
            <a:avLst/>
          </a:prstGeom>
          <a:solidFill>
            <a:srgbClr val="FBEEE4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76200" bIns="25400" lIns="177800" rIns="177800"/>
          <a:lstStyle/>
          <a:p>
            <a:pPr algn="l"/>
            <a:r>
              <a:rPr sz="1300" b="1" i="0">
                <a:solidFill>
                  <a:srgbClr val="1F2A37"/>
                </a:solidFill>
                <a:latin typeface="Calibri"/>
              </a:rPr>
              <a:t>2.  The llm column overcounts real calls by one</a:t>
            </a:r>
          </a:p>
          <a:p>
            <a:pPr algn="l"/>
            <a:r>
              <a:rPr sz="1100" b="0" i="0">
                <a:solidFill>
                  <a:srgbClr val="3A4654"/>
                </a:solidFill>
                <a:latin typeface="Calibri"/>
              </a:rPr>
              <a:t>Every task issues an extra max_tokens=1 capability probe, counted as a chat span. llm=2 on gsm8k means ONE real call.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3328416"/>
            <a:ext cx="11338560" cy="914400"/>
          </a:xfrm>
          <a:prstGeom prst="roundRect">
            <a:avLst/>
          </a:prstGeom>
          <a:solidFill>
            <a:srgbClr val="FBEEE4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76200" bIns="25400" lIns="177800" rIns="177800"/>
          <a:lstStyle/>
          <a:p>
            <a:pPr algn="l"/>
            <a:r>
              <a:rPr sz="1300" b="1" i="0">
                <a:solidFill>
                  <a:srgbClr val="1F2A37"/>
                </a:solidFill>
                <a:latin typeface="Calibri"/>
              </a:rPr>
              <a:t>3.  Implausibly small tokens = lost telemetry, and tokens == 0 will not catch it</a:t>
            </a:r>
          </a:p>
          <a:p>
            <a:pPr algn="l"/>
            <a:r>
              <a:rPr sz="1100" b="0" i="0">
                <a:solidFill>
                  <a:srgbClr val="3A4654"/>
                </a:solidFill>
                <a:latin typeface="Calibri"/>
              </a:rPr>
              <a:t>When a usage-bearing span is lost, what survives is the probe — whose own usage is 0/0 on reasoning models but 8/1 on claude-sonnet-5 and 1/0 on gemini. Use the structural test: llm &lt;= 1 with tool &gt;= 2 is impossible.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4389120"/>
            <a:ext cx="11338560" cy="914400"/>
          </a:xfrm>
          <a:prstGeom prst="roundRect">
            <a:avLst/>
          </a:prstGeom>
          <a:solidFill>
            <a:srgbClr val="FBEEE4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76200" bIns="25400" lIns="177800" rIns="177800"/>
          <a:lstStyle/>
          <a:p>
            <a:pPr algn="l"/>
            <a:r>
              <a:rPr sz="1300" b="1" i="0">
                <a:solidFill>
                  <a:srgbClr val="1F2A37"/>
                </a:solidFill>
                <a:latin typeface="Calibri"/>
              </a:rPr>
              <a:t>4.  Output varies MORE than input, in most runs</a:t>
            </a:r>
          </a:p>
          <a:p>
            <a:pPr algn="l"/>
            <a:r>
              <a:rPr sz="1100" b="0" i="0">
                <a:solidFill>
                  <a:srgbClr val="3A4654"/>
                </a:solidFill>
                <a:latin typeface="Calibri"/>
              </a:rPr>
              <a:t>Measured OUT CV &gt; IN CV in 27 of 33 legs. gsm8k's prompt is near-constant while answer length swings; only long-horizon appworld inverts it. Do not infer a direction — read the CV.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5449824"/>
            <a:ext cx="11338560" cy="914400"/>
          </a:xfrm>
          <a:prstGeom prst="roundRect">
            <a:avLst/>
          </a:prstGeom>
          <a:solidFill>
            <a:srgbClr val="FBEEE4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76200" bIns="25400" lIns="177800" rIns="177800"/>
          <a:lstStyle/>
          <a:p>
            <a:pPr algn="l"/>
            <a:r>
              <a:rPr sz="1300" b="1" i="0">
                <a:solidFill>
                  <a:srgbClr val="1F2A37"/>
                </a:solidFill>
                <a:latin typeface="Calibri"/>
              </a:rPr>
              <a:t>5.  Task selection is deterministic</a:t>
            </a:r>
          </a:p>
          <a:p>
            <a:pPr algn="l"/>
            <a:r>
              <a:rPr sz="1100" b="0" i="0">
                <a:solidFill>
                  <a:srgbClr val="3A4654"/>
                </a:solidFill>
                <a:latin typeface="Calibri"/>
              </a:rPr>
              <a:t>A run takes the first max_tasks tasks, so the same task_id is the same task across runs and clusters, and a smaller run is a prefix of a larger one. That is what makes cross-platform comparison like-for-like — six legs matched to the byte.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7.  What the Service Can &amp; Cannot Enact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The HTTP-only boundary, made explicit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34440"/>
            <a:ext cx="5394960" cy="457200"/>
          </a:xfrm>
          <a:prstGeom prst="rect">
            <a:avLst/>
          </a:prstGeom>
          <a:solidFill>
            <a:srgbClr val="5B8C5A"/>
          </a:solidFill>
          <a:ln w="12700">
            <a:solidFill>
              <a:srgbClr val="5B8C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✓  Enacts over HTTP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530352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Deploy MCP tool + A2A agent (CPU/mem, image, env)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Deploy-time model swap (per-experiment agent)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authbridge_enabled → inject the sidecar (layer-2)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plugin_preset / plugins / on_error → AuthBridge layer-3</a:t>
            </a:r>
          </a:p>
          <a:p>
            <a:pPr algn="l" lvl="2">
              <a:spcAft>
                <a:spcPts val="300"/>
              </a:spcAft>
            </a:pPr>
            <a:r>
              <a:rPr sz="1150" b="0" i="0">
                <a:solidFill>
                  <a:srgbClr val="3A4654"/>
                </a:solidFill>
                <a:latin typeface="Calibri"/>
              </a:rPr>
              <a:t>→ pluginPreset/plugins/onError; operator renders ConfigMap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Run benchmark sessions; collect pass/fail + latency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Emit + read MLflow traces; export to S3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Service-owned config: MLflow + S3 via PUT /config</a:t>
            </a:r>
          </a:p>
          <a:p>
            <a:pPr algn="l" lvl="2">
              <a:spcAft>
                <a:spcPts val="300"/>
              </a:spcAft>
            </a:pPr>
            <a:r>
              <a:rPr sz="1150" b="0" i="0">
                <a:solidFill>
                  <a:srgbClr val="3A4654"/>
                </a:solidFill>
                <a:latin typeface="Calibri"/>
              </a:rPr>
              <a:t>benchmarker only</a:t>
            </a:r>
          </a:p>
        </p:txBody>
      </p:sp>
      <p:sp>
        <p:nvSpPr>
          <p:cNvPr id="5" name="Rectangle 4"/>
          <p:cNvSpPr/>
          <p:nvPr/>
        </p:nvSpPr>
        <p:spPr>
          <a:xfrm>
            <a:off x="6309360" y="1234440"/>
            <a:ext cx="5394960" cy="457200"/>
          </a:xfrm>
          <a:prstGeom prst="rect">
            <a:avLst/>
          </a:prstGeom>
          <a:solidFill>
            <a:srgbClr val="B55A2E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✗  Out-of-band (reports, doesn't do)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828800"/>
            <a:ext cx="530352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Cluster Secrets (hf-secret, openai-secret)</a:t>
            </a:r>
          </a:p>
          <a:p>
            <a:pPr algn="l" lvl="2">
              <a:spcAft>
                <a:spcPts val="300"/>
              </a:spcAft>
            </a:pPr>
            <a:r>
              <a:rPr sz="1150" b="0" i="0">
                <a:solidFill>
                  <a:srgbClr val="3A4654"/>
                </a:solidFill>
                <a:latin typeface="Calibri"/>
              </a:rPr>
              <a:t>operator provisions; run precheck returns 424 naming it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AuthBridge CLUSTER config — ibac judgeEndpoint / judgeModel</a:t>
            </a:r>
          </a:p>
          <a:p>
            <a:pPr algn="l" lvl="2">
              <a:spcAft>
                <a:spcPts val="300"/>
              </a:spcAft>
            </a:pPr>
            <a:r>
              <a:rPr sz="1150" b="0" i="0">
                <a:solidFill>
                  <a:srgbClr val="3A4654"/>
                </a:solidFill>
                <a:latin typeface="Calibri"/>
              </a:rPr>
              <a:t>in the platform-config ConfigMap, not the agent API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Any cluster-level API call — Rossoctl does these server-side</a:t>
            </a:r>
          </a:p>
          <a:p>
            <a:pPr algn="l">
              <a:spcAft>
                <a:spcPts val="300"/>
              </a:spcAft>
            </a:pPr>
            <a:r>
              <a:rPr sz="1350" b="1" i="0">
                <a:solidFill>
                  <a:srgbClr val="B55A2E"/>
                </a:solidFill>
                <a:latin typeface="Calibri"/>
              </a:rPr>
              <a:t>Principle: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Never silently ignore an un-enactable request —</a:t>
            </a:r>
          </a:p>
          <a:p>
            <a:pPr algn="l" lvl="2">
              <a:spcAft>
                <a:spcPts val="300"/>
              </a:spcAft>
            </a:pPr>
            <a:r>
              <a:rPr sz="1150" b="0" i="0">
                <a:solidFill>
                  <a:srgbClr val="3A4654"/>
                </a:solidFill>
                <a:latin typeface="Calibri"/>
              </a:rPr>
              <a:t>precheck (424) or reject (422), with an actionable reason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463040" y="5257800"/>
            <a:ext cx="9235440" cy="685800"/>
          </a:xfrm>
          <a:prstGeom prst="roundRect">
            <a:avLst/>
          </a:prstGeom>
          <a:solidFill>
            <a:srgbClr val="EEEFF1"/>
          </a:solidFill>
          <a:ln w="12700"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50" b="1" i="0">
                <a:solidFill>
                  <a:srgbClr val="1F2A37"/>
                </a:solidFill>
                <a:latin typeface="Calibri"/>
              </a:rPr>
              <a:t>Cluster-agnostic by construction: works on kind / vanilla k8s / OpenShift; cross-cluster runs use per-instance route templates + a reachable internal issuer.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