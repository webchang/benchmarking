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2000" cy="914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Benchmarking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C9D9EC"/>
                </a:solidFill>
                <a:latin typeface="Calibri"/>
              </a:rPr>
              <a:t>Architecture &amp; Design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D8E3F0"/>
                </a:solidFill>
                <a:latin typeface="Calibri"/>
              </a:rPr>
              <a:t>A pure-Python, HTTP-only service that deploys and evaluates agent benchmarks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D8E3F0"/>
                </a:solidFill>
                <a:latin typeface="Calibri"/>
              </a:rPr>
              <a:t>across multiple cluster-specific Rossoctl / Kagenti instances.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Overview &amp; 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43000"/>
            <a:ext cx="53949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3492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Deploys a benchmark's MCP tool + A2A agent, runs the evaluation, reads results, and exports them — all over HTTP.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6FB5"/>
                </a:solidFill>
                <a:latin typeface="Calibri"/>
              </a:rPr>
              <a:t>Objectives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Automate benchmarking lifecycle operations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Cross-user/cluster sharing of benchmark run results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Easy to configure in-cluster &amp; cross-cluster benchmark runs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Asynchronous parallel benchmark runs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Secure, scalable, auditable &amp; resilient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6FB5"/>
                </a:solidFill>
                <a:latin typeface="Calibri"/>
              </a:rPr>
              <a:t>3 benchmarks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gsm8k (single-turn) · tau2 (multi-turn, server-side simulator) · appworld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6FB5"/>
                </a:solidFill>
                <a:latin typeface="Calibri"/>
              </a:rPr>
              <a:t>Client contract</a:t>
            </a:r>
          </a:p>
          <a:p>
            <a:pPr algn="l" lvl="1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• Point at a hostname, send Authorization: Bearer &lt;caller JWT&gt; — same from kind to prod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143000"/>
            <a:ext cx="57150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78308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Pure-Python, HTTPS-only to Rossoctl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No shell-out: smaller image, no injection surface, structured errors,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42316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Two-token auth model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Caller JWT attributes + routes only (never forwarded); Service mints its own benchmarker (ROPC) token to Rossoctl.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06324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iss is the trust anchor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The JWT issuer selects the per-instance config — no separate instance argument, so no confused-deputy escape.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70332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Per-request ROPC login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Fresh Service token every request — no expiry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4340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iss-keyed per-instance config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One file per issuer: Rossoctl URL, benchmarker cred, MLflow/S3, optional Keycloak backchannel + workload route templates.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98348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Enact only what HTTP allows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Deploy/run/report/export; workload Secrets + AuthBridge layer-3 are out-of-band → prechecked/rejected, never silently ignored.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623560"/>
            <a:ext cx="571500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MLflow per-service; S3 shared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Service emits + reads its own MLflow traces; S3 is the cross-service analytics sink.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Architecture</a:t>
            </a:r>
          </a:p>
          <a:p>
            <a:r>
              <a:rPr sz="1400" b="0" i="0">
                <a:solidFill>
                  <a:srgbClr val="C9D9EC"/>
                </a:solidFill>
                <a:latin typeface="Calibri"/>
              </a:rPr>
              <a:t>Relations between client, service, cluster-specific Keycloak / Rossoctl / workload, MLflow &amp; S3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148840" cy="1051560"/>
          </a:xfrm>
          <a:prstGeom prst="roundRect">
            <a:avLst/>
          </a:prstGeom>
          <a:solidFill>
            <a:srgbClr val="5B8C5A"/>
          </a:solidFill>
          <a:ln w="12700">
            <a:solidFill>
              <a:srgbClr val="5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Benchmarking Client</a:t>
            </a:r>
          </a:p>
          <a:p>
            <a:pPr algn="ctr"/>
            <a:r>
              <a:rPr sz="1050" b="0" i="0">
                <a:solidFill>
                  <a:srgbClr val="E6F0E6"/>
                </a:solidFill>
                <a:latin typeface="Calibri"/>
              </a:rPr>
              <a:t>off-cluster (host / CI)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017520"/>
            <a:ext cx="2560320" cy="2148840"/>
          </a:xfrm>
          <a:prstGeom prst="roundRect">
            <a:avLst/>
          </a:prstGeom>
          <a:solidFill>
            <a:srgbClr val="2E6FB5"/>
          </a:solidFill>
          <a:ln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tIns="88900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Benchmarking Service</a:t>
            </a:r>
          </a:p>
          <a:p>
            <a:pPr algn="l" lvl="1"/>
            <a:r>
              <a:rPr sz="1000" b="0" i="0">
                <a:solidFill>
                  <a:srgbClr val="FFFFFF"/>
                </a:solidFill>
                <a:latin typeface="Calibri"/>
              </a:rPr>
              <a:t>• pure-Python · async</a:t>
            </a:r>
          </a:p>
          <a:p>
            <a:pPr algn="l" lvl="1"/>
            <a:r>
              <a:rPr sz="1000" b="0" i="0">
                <a:solidFill>
                  <a:srgbClr val="FFFFFF"/>
                </a:solidFill>
                <a:latin typeface="Calibri"/>
              </a:rPr>
              <a:t>• iss-keyed InstanceRegistry</a:t>
            </a:r>
          </a:p>
          <a:p>
            <a:pPr algn="l" lvl="1"/>
            <a:r>
              <a:rPr sz="1000" b="0" i="0">
                <a:solidFill>
                  <a:srgbClr val="FFFFFF"/>
                </a:solidFill>
                <a:latin typeface="Calibri"/>
              </a:rPr>
              <a:t>• per-request ROPC login</a:t>
            </a:r>
          </a:p>
          <a:p>
            <a:pPr algn="l" lvl="1"/>
            <a:r>
              <a:rPr sz="1000" b="0" i="0">
                <a:solidFill>
                  <a:srgbClr val="FFFFFF"/>
                </a:solidFill>
                <a:latin typeface="Calibri"/>
              </a:rPr>
              <a:t>• deploy / run / report</a:t>
            </a:r>
          </a:p>
          <a:p>
            <a:pPr algn="l" lvl="1"/>
            <a:r>
              <a:rPr sz="1000" b="0" i="0">
                <a:solidFill>
                  <a:srgbClr val="FFFFFF"/>
                </a:solidFill>
                <a:latin typeface="Calibri"/>
              </a:rPr>
              <a:t>• MLflow emit+read · S3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4488" y="1298448"/>
            <a:ext cx="8001000" cy="4160520"/>
          </a:xfrm>
          <a:prstGeom prst="round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3904" y="1197864"/>
            <a:ext cx="8001000" cy="4160520"/>
          </a:xfrm>
          <a:prstGeom prst="round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03320" y="1097280"/>
            <a:ext cx="8001000" cy="4160520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1B3A5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17043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B3A5C"/>
                </a:solidFill>
                <a:latin typeface="Calibri"/>
              </a:rPr>
              <a:t>Per-cluster instance — selected by JWT  iss   (ykt3 · kind · 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783080"/>
            <a:ext cx="2331720" cy="914400"/>
          </a:xfrm>
          <a:prstGeom prst="roundRect">
            <a:avLst/>
          </a:prstGeom>
          <a:solidFill>
            <a:srgbClr val="B55A2E"/>
          </a:solidFill>
          <a:ln w="12700">
            <a:solidFill>
              <a:srgbClr val="B5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Keycloak</a:t>
            </a:r>
          </a:p>
          <a:p>
            <a:pPr algn="ctr"/>
            <a:r>
              <a:rPr sz="1000" b="0" i="0">
                <a:solidFill>
                  <a:srgbClr val="FBEEE4"/>
                </a:solidFill>
                <a:latin typeface="Calibri"/>
              </a:rPr>
              <a:t>issuer + backchannel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331720" cy="1005840"/>
          </a:xfrm>
          <a:prstGeom prst="roundRect">
            <a:avLst/>
          </a:prstGeom>
          <a:solidFill>
            <a:srgbClr val="8E44AD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Rossoctl / Kagenti</a:t>
            </a:r>
          </a:p>
          <a:p>
            <a:pPr algn="ctr"/>
            <a:r>
              <a:rPr sz="1000" b="0" i="0">
                <a:solidFill>
                  <a:srgbClr val="F1E8F6"/>
                </a:solidFill>
                <a:latin typeface="Calibri"/>
              </a:rPr>
              <a:t>backend API (server-side ops)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114800"/>
            <a:ext cx="2331720" cy="868680"/>
          </a:xfrm>
          <a:prstGeom prst="roundRect">
            <a:avLst/>
          </a:prstGeom>
          <a:solidFill>
            <a:srgbClr val="6B6B6B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MLflow</a:t>
            </a:r>
          </a:p>
          <a:p>
            <a:pPr algn="ctr"/>
            <a:r>
              <a:rPr sz="1000" b="0" i="0">
                <a:solidFill>
                  <a:srgbClr val="EEEFF1"/>
                </a:solidFill>
                <a:latin typeface="Calibri"/>
              </a:rPr>
              <a:t>traces (per-service)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783080"/>
            <a:ext cx="3154680" cy="2148840"/>
          </a:xfrm>
          <a:prstGeom prst="roundRect">
            <a:avLst/>
          </a:prstGeom>
          <a:solidFill>
            <a:srgbClr val="E4F0F0"/>
          </a:solidFill>
          <a:ln w="15875">
            <a:solidFill>
              <a:srgbClr val="3D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470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D6E70"/>
                </a:solidFill>
                <a:latin typeface="Calibri"/>
              </a:rPr>
              <a:t>Benchmark Workload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212848"/>
            <a:ext cx="2788920" cy="731520"/>
          </a:xfrm>
          <a:prstGeom prst="roundRect">
            <a:avLst/>
          </a:prstGeom>
          <a:solidFill>
            <a:srgbClr val="3D6E70"/>
          </a:solidFill>
          <a:ln w="12700">
            <a:solidFill>
              <a:srgbClr val="3D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MCP tool</a:t>
            </a:r>
          </a:p>
          <a:p>
            <a:pPr algn="ctr"/>
            <a:r>
              <a:rPr sz="950" b="0" i="0">
                <a:solidFill>
                  <a:srgbClr val="E4F0F0"/>
                </a:solidFill>
                <a:latin typeface="Calibri"/>
              </a:rPr>
              <a:t>exgentic-mcp-&lt;benchmark&gt;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063240"/>
            <a:ext cx="2788920" cy="731520"/>
          </a:xfrm>
          <a:prstGeom prst="roundRect">
            <a:avLst/>
          </a:prstGeom>
          <a:solidFill>
            <a:srgbClr val="3D6E70"/>
          </a:solidFill>
          <a:ln w="12700">
            <a:solidFill>
              <a:srgbClr val="3D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A2A agent</a:t>
            </a:r>
          </a:p>
          <a:p>
            <a:pPr algn="ctr"/>
            <a:r>
              <a:rPr sz="950" b="0" i="0">
                <a:solidFill>
                  <a:srgbClr val="E4F0F0"/>
                </a:solidFill>
                <a:latin typeface="Calibri"/>
              </a:rPr>
              <a:t>exgentic-a2a-tool_calling-&lt;b&gt;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114800"/>
            <a:ext cx="3154680" cy="868680"/>
          </a:xfrm>
          <a:prstGeom prst="roundRect">
            <a:avLst/>
          </a:prstGeom>
          <a:solidFill>
            <a:srgbClr val="6B6B6B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S3</a:t>
            </a:r>
          </a:p>
          <a:p>
            <a:pPr algn="ctr"/>
            <a:r>
              <a:rPr sz="1000" b="0" i="0">
                <a:solidFill>
                  <a:srgbClr val="EEEFF1"/>
                </a:solidFill>
                <a:latin typeface="Calibri"/>
              </a:rPr>
              <a:t>shared cross-service sink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2888" y="1783080"/>
            <a:ext cx="1444751" cy="320040"/>
          </a:xfrm>
          <a:prstGeom prst="line">
            <a:avLst/>
          </a:prstGeom>
          <a:ln w="2540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127248" y="1728216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2423160"/>
            <a:ext cx="137160" cy="594360"/>
          </a:xfrm>
          <a:prstGeom prst="line">
            <a:avLst/>
          </a:prstGeom>
          <a:ln w="2540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115568" y="2606040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926080" y="2423160"/>
            <a:ext cx="1051559" cy="1005840"/>
          </a:xfrm>
          <a:prstGeom prst="line">
            <a:avLst/>
          </a:prstGeom>
          <a:ln w="2540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47288" y="2715768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926080" y="3474720"/>
            <a:ext cx="1051559" cy="365760"/>
          </a:xfrm>
          <a:prstGeom prst="line">
            <a:avLst/>
          </a:prstGeom>
          <a:ln w="2540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01568" y="3447288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309360" y="2651760"/>
            <a:ext cx="2057400" cy="502920"/>
          </a:xfrm>
          <a:prstGeom prst="line">
            <a:avLst/>
          </a:prstGeom>
          <a:ln w="25400">
            <a:solidFill>
              <a:srgbClr val="8E44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196328" y="2715768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926080" y="3383280"/>
            <a:ext cx="5623560" cy="1051560"/>
          </a:xfrm>
          <a:prstGeom prst="line">
            <a:avLst/>
          </a:prstGeom>
          <a:ln w="25400">
            <a:solidFill>
              <a:srgbClr val="3D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641848" y="3758184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926080" y="4526280"/>
            <a:ext cx="1051559" cy="27432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447288" y="4498848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926080" y="4526280"/>
            <a:ext cx="5440680" cy="502920"/>
          </a:xfrm>
          <a:prstGeom prst="line">
            <a:avLst/>
          </a:prstGeom>
          <a:ln w="2540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641848" y="4636008"/>
            <a:ext cx="237744" cy="237744"/>
          </a:xfrm>
          <a:prstGeom prst="ellipse">
            <a:avLst/>
          </a:prstGeom>
          <a:solidFill>
            <a:srgbClr val="E87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394960"/>
            <a:ext cx="11430000" cy="1325880"/>
          </a:xfrm>
          <a:prstGeom prst="roundRect">
            <a:avLst/>
          </a:prstGeom>
          <a:solidFill>
            <a:srgbClr val="F4F6F8"/>
          </a:solidFill>
          <a:ln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6811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1  Client logs in to Keycloak (ROPC) → caller JWT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2  Client → Service:  Authorization: Bearer &lt;caller JWT&gt;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3  Service validates JWT (JWKS) + mints its own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      benchmarker token (ROPC, via backchannel)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4  Service → Rossoctl: deploy / list agents +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46811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5  Rossoctl creates the MCP tool + A2A agent in-cluster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6  Service runs benchmark sessions directly (MCP / A2A)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7  Service emits + reads Agent.Session traces (MLflow)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8  Service exports run.json / report.ndjson /</a:t>
            </a:r>
          </a:p>
          <a:p>
            <a:pPr>
              <a:spcAft>
                <a:spcPts val="100"/>
              </a:spcAft>
            </a:pPr>
            <a:r>
              <a:rPr sz="1050" b="0" i="0">
                <a:solidFill>
                  <a:srgbClr val="1F2A37"/>
                </a:solidFill>
                <a:latin typeface="Calibri"/>
              </a:rPr>
              <a:t>      report.parquet (S3)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The Two-Token Auth Model</a:t>
            </a:r>
          </a:p>
          <a:p>
            <a:r>
              <a:rPr sz="1400" b="0" i="0">
                <a:solidFill>
                  <a:srgbClr val="C9D9EC"/>
                </a:solidFill>
                <a:latin typeface="Calibri"/>
              </a:rPr>
              <a:t>Why the caller's token is never forwarded upstream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Caller JWT  (inbound)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Presented by the client as Authorization: Bearer.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Used ONLY to attribute (preferred_username) and route (iss → instance)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Signature validated via the issuer's JWKS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aud / exp deliberately lenient in the dev/ops context</a:t>
            </a:r>
          </a:p>
          <a:p>
            <a:pPr algn="l" lvl="1">
              <a:spcAft>
                <a:spcPts val="300"/>
              </a:spcAft>
            </a:pPr>
            <a:r>
              <a:rPr sz="1300" b="1" i="0">
                <a:solidFill>
                  <a:srgbClr val="B55A2E"/>
                </a:solidFill>
                <a:latin typeface="Calibri"/>
              </a:rPr>
              <a:t>• NEVER forwarded to Rossoctl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5B8C5A"/>
                </a:solidFill>
                <a:latin typeface="Calibri"/>
              </a:rPr>
              <a:t>benchmarker is special: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 caller JWT with preferred_username == benchmarker authorizes config ops (GET/PUT /config)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2E6FB5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Service token  (outbound)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Minted by the Service per request via ROPC (password grant) using the instance's benchmarker credential.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Always fresh → no expiry handling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Presented to Rossoctl for all cluster-facing ops</a:t>
            </a:r>
          </a:p>
          <a:p>
            <a:pPr algn="l" lvl="1">
              <a:spcAft>
                <a:spcPts val="300"/>
              </a:spcAft>
            </a:pPr>
            <a:r>
              <a:rPr sz="1300" b="1" i="0">
                <a:solidFill>
                  <a:srgbClr val="2E6FB5"/>
                </a:solidFill>
                <a:latin typeface="Calibri"/>
              </a:rPr>
              <a:t>• The Service acts under its OWN identity, not the caller's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E6FB5"/>
                </a:solidFill>
                <a:latin typeface="Calibri"/>
              </a:rPr>
              <a:t>Backchannel split (iss ≠ dialed host):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When the iss host is unreachable (in-cluster kind), JWKS + token come from a configured backchannel URL; iss is matched, never dialed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212080"/>
            <a:ext cx="923544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50" b="1" i="0">
                <a:solidFill>
                  <a:srgbClr val="1F2A37"/>
                </a:solidFill>
                <a:latin typeface="Calibri"/>
              </a:rPr>
              <a:t>Implication:  at the Rossoctl / cluster layer every action appears as the Service's identity — so per-user attribution &amp; audit live in the Service, keyed on (iss, preferred_username).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Benchmark Catalog &amp; Run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43000"/>
            <a:ext cx="52578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Catalog (static registry)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83080"/>
            <a:ext cx="5257800" cy="914400"/>
          </a:xfrm>
          <a:prstGeom prst="roundRect">
            <a:avLst/>
          </a:prstGeom>
          <a:solidFill>
            <a:srgbClr val="E4F0F0"/>
          </a:solidFill>
          <a:ln w="12700">
            <a:solidFill>
              <a:srgbClr val="3D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27000"/>
          <a:lstStyle/>
          <a:p>
            <a:pPr algn="l"/>
            <a:r>
              <a:rPr sz="1500" b="1" i="0">
                <a:solidFill>
                  <a:srgbClr val="3D6E70"/>
                </a:solidFill>
                <a:latin typeface="Calibri"/>
              </a:rPr>
              <a:t>gsm8k</a:t>
            </a:r>
          </a:p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single-turn · needs hf-secret + openai-secret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834640"/>
            <a:ext cx="5257800" cy="914400"/>
          </a:xfrm>
          <a:prstGeom prst="roundRect">
            <a:avLst/>
          </a:prstGeom>
          <a:solidFill>
            <a:srgbClr val="F1E8F6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27000"/>
          <a:lstStyle/>
          <a:p>
            <a:pPr algn="l"/>
            <a:r>
              <a:rPr sz="1500" b="1" i="0">
                <a:solidFill>
                  <a:srgbClr val="8E44AD"/>
                </a:solidFill>
                <a:latin typeface="Calibri"/>
              </a:rPr>
              <a:t>tau2</a:t>
            </a:r>
          </a:p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multi-turn · user-simulator LLM runs server-side in the MCP pod · raise timeout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886200"/>
            <a:ext cx="5257800" cy="914400"/>
          </a:xfrm>
          <a:prstGeom prst="roundRect">
            <a:avLst/>
          </a:prstGeom>
          <a:solidFill>
            <a:srgbClr val="FBEEE4"/>
          </a:solidFill>
          <a:ln w="12700">
            <a:solidFill>
              <a:srgbClr val="B5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27000"/>
          <a:lstStyle/>
          <a:p>
            <a:pPr algn="l"/>
            <a:r>
              <a:rPr sz="1500" b="1" i="0">
                <a:solidFill>
                  <a:srgbClr val="B55A2E"/>
                </a:solidFill>
                <a:latin typeface="Calibri"/>
              </a:rPr>
              <a:t>appworld</a:t>
            </a:r>
          </a:p>
          <a:p>
            <a:pPr algn="l"/>
            <a:r>
              <a:rPr sz="1150" b="0" i="0">
                <a:solidFill>
                  <a:srgbClr val="1F2A37"/>
                </a:solidFill>
                <a:latin typeface="Calibri"/>
              </a:rPr>
              <a:t>declared + deploys; MCP image blocked by its own venv-service timeout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143000"/>
            <a:ext cx="57607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Lifecycle (REST)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POST /benchmarks/{n}/deploy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create MCP tool + A2A agent → 201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084832"/>
            <a:ext cx="137160" cy="640080"/>
          </a:xfrm>
          <a:prstGeom prst="line">
            <a:avLst/>
          </a:prstGeom>
          <a:ln w="12700">
            <a:solidFill>
              <a:srgbClr val="C7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24688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GET /benchmarks/{n}/status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poll until tool_ready &amp; agent_ready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72200" y="2770632"/>
            <a:ext cx="137160" cy="640080"/>
          </a:xfrm>
          <a:prstGeom prst="line">
            <a:avLst/>
          </a:prstGeom>
          <a:ln w="12700">
            <a:solidFill>
              <a:srgbClr val="C7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31546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POST /benchmarks/{n}/runs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precheck → 202 run_id  (409 not deployed · 424 secret missing)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3456432"/>
            <a:ext cx="137160" cy="640080"/>
          </a:xfrm>
          <a:prstGeom prst="line">
            <a:avLst/>
          </a:prstGeom>
          <a:ln w="12700">
            <a:solidFill>
              <a:srgbClr val="C7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38404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GET …/runs/{id}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poll pending → running → succeeded / failed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4142232"/>
            <a:ext cx="137160" cy="640080"/>
          </a:xfrm>
          <a:prstGeom prst="line">
            <a:avLst/>
          </a:prstGeom>
          <a:ln w="12700">
            <a:solidFill>
              <a:srgbClr val="C7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45262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GET …/runs/{id}/report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MLflow records + artifacts  (409 if MLflow unset)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4828032"/>
            <a:ext cx="137160" cy="640080"/>
          </a:xfrm>
          <a:prstGeom prst="line">
            <a:avLst/>
          </a:prstGeom>
          <a:ln w="12700">
            <a:solidFill>
              <a:srgbClr val="C7CE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5212080"/>
            <a:ext cx="5440680" cy="60350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/>
          <a:lstStyle/>
          <a:p>
            <a:pPr algn="l"/>
            <a:r>
              <a:rPr sz="1250" b="1" i="0">
                <a:solidFill>
                  <a:srgbClr val="1F2A37"/>
                </a:solidFill>
                <a:latin typeface="Calibri"/>
              </a:rPr>
              <a:t>download from S3</a:t>
            </a:r>
          </a:p>
          <a:p>
            <a:pPr algn="l"/>
            <a:r>
              <a:rPr sz="1050" b="0" i="0">
                <a:solidFill>
                  <a:srgbClr val="3A4654"/>
                </a:solidFill>
                <a:latin typeface="Calibri"/>
              </a:rPr>
              <a:t>run.json · report.ndjson · report.parquet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44768" y="1920240"/>
            <a:ext cx="0" cy="3931920"/>
          </a:xfrm>
          <a:prstGeom prst="line">
            <a:avLst/>
          </a:prstGeom>
          <a:ln w="19050">
            <a:solidFill>
              <a:srgbClr val="E87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5560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What the Service Can &amp; Cannot Enact</a:t>
            </a:r>
          </a:p>
          <a:p>
            <a:r>
              <a:rPr sz="1400" b="0" i="0">
                <a:solidFill>
                  <a:srgbClr val="C9D9EC"/>
                </a:solidFill>
                <a:latin typeface="Calibri"/>
              </a:rPr>
              <a:t>The HTTP-only boundary, made explicit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5394960" cy="457200"/>
          </a:xfrm>
          <a:prstGeom prst="rect">
            <a:avLst/>
          </a:prstGeom>
          <a:solidFill>
            <a:srgbClr val="5B8C5A"/>
          </a:solidFill>
          <a:ln w="12700">
            <a:solidFill>
              <a:srgbClr val="5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✓  Enacts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Deploy MCP tool + A2A agent (with CPU/mem, image, env)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Deploy-time model swap (per-experiment agent)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authbridge_enabled → inject sidecar w/ cluster-default pipeline (layer-2)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Run benchmark sessions; collect pass/fail + latency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Emit + read MLflow traces; export to S3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Service-owned config: MLflow + S3 via PUT /config (benchmarker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34440"/>
            <a:ext cx="5394960" cy="457200"/>
          </a:xfrm>
          <a:prstGeom prst="rect">
            <a:avLst/>
          </a:prstGeom>
          <a:solidFill>
            <a:srgbClr val="B55A2E"/>
          </a:solidFill>
          <a:ln w="12700">
            <a:solidFill>
              <a:srgbClr val="B5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✗  Out-of-band (reports, doesn't 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Cluster Secrets (hf-secret, openai-secret) — operator provisions;</a:t>
            </a:r>
          </a:p>
          <a:p>
            <a:pPr algn="l" lvl="2">
              <a:spcAft>
                <a:spcPts val="300"/>
              </a:spcAft>
            </a:pPr>
            <a:r>
              <a:rPr sz="1200" b="0" i="0">
                <a:solidFill>
                  <a:srgbClr val="3A4654"/>
                </a:solidFill>
                <a:latin typeface="Calibri"/>
              </a:rPr>
              <a:t>     run precheck returns 424 naming the missing secret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AuthBridge layer-3 plugin composition / on_error —</a:t>
            </a:r>
          </a:p>
          <a:p>
            <a:pPr algn="l" lvl="2">
              <a:spcAft>
                <a:spcPts val="300"/>
              </a:spcAft>
            </a:pPr>
            <a:r>
              <a:rPr sz="1200" b="0" i="0">
                <a:solidFill>
                  <a:srgbClr val="3A4654"/>
                </a:solidFill>
                <a:latin typeface="Calibri"/>
              </a:rPr>
              <a:t>     needs a per-agent ConfigMap kubectl overlay; deploy returns 422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Any cluster-level API call — Rossoctl does these server-side</a:t>
            </a:r>
          </a:p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B55A2E"/>
                </a:solidFill>
                <a:latin typeface="Calibri"/>
              </a:rPr>
              <a:t>Principle: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Never silently ignore an un-enactable request — precheck (424) or reject (422) with an actionable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943600"/>
            <a:ext cx="9235440" cy="685800"/>
          </a:xfrm>
          <a:prstGeom prst="roundRect">
            <a:avLst/>
          </a:prstGeom>
          <a:solidFill>
            <a:srgbClr val="EEEFF1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 i="0">
                <a:solidFill>
                  <a:srgbClr val="1F2A37"/>
                </a:solidFill>
                <a:latin typeface="Calibri"/>
              </a:rPr>
              <a:t>Cluster-agnostic by construction: works on kind / vanilla k8s / OpenShift; cross-cluster runs use per-instance route templates + a reachable internal issuer.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